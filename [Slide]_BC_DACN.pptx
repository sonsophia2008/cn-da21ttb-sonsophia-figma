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84" r:id="rId7"/>
    <p:sldId id="261" r:id="rId8"/>
    <p:sldId id="262" r:id="rId9"/>
    <p:sldId id="285" r:id="rId10"/>
    <p:sldId id="289" r:id="rId11"/>
    <p:sldId id="290" r:id="rId12"/>
    <p:sldId id="291" r:id="rId13"/>
    <p:sldId id="282" r:id="rId14"/>
    <p:sldId id="283" r:id="rId15"/>
    <p:sldId id="288" r:id="rId16"/>
    <p:sldId id="292" r:id="rId17"/>
    <p:sldId id="293" r:id="rId18"/>
    <p:sldId id="263"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94660"/>
  </p:normalViewPr>
  <p:slideViewPr>
    <p:cSldViewPr snapToGrid="0">
      <p:cViewPr varScale="1">
        <p:scale>
          <a:sx n="107" d="100"/>
          <a:sy n="107" d="100"/>
        </p:scale>
        <p:origin x="97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A8223C-66AA-4E45-890B-9F3EC3AD7BE8}"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CD77D-4307-436E-A844-95A5CB5FF14C}" type="slidenum">
              <a:rPr lang="en-US" smtClean="0"/>
              <a:t>‹#›</a:t>
            </a:fld>
            <a:endParaRPr lang="en-US"/>
          </a:p>
        </p:txBody>
      </p:sp>
    </p:spTree>
    <p:extLst>
      <p:ext uri="{BB962C8B-B14F-4D97-AF65-F5344CB8AC3E}">
        <p14:creationId xmlns:p14="http://schemas.microsoft.com/office/powerpoint/2010/main" val="2976043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2</a:t>
            </a:fld>
            <a:endParaRPr lang="en-US"/>
          </a:p>
        </p:txBody>
      </p:sp>
    </p:spTree>
    <p:extLst>
      <p:ext uri="{BB962C8B-B14F-4D97-AF65-F5344CB8AC3E}">
        <p14:creationId xmlns:p14="http://schemas.microsoft.com/office/powerpoint/2010/main" val="120079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3</a:t>
            </a:fld>
            <a:endParaRPr lang="en-US"/>
          </a:p>
        </p:txBody>
      </p:sp>
    </p:spTree>
    <p:extLst>
      <p:ext uri="{BB962C8B-B14F-4D97-AF65-F5344CB8AC3E}">
        <p14:creationId xmlns:p14="http://schemas.microsoft.com/office/powerpoint/2010/main" val="38802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4</a:t>
            </a:fld>
            <a:endParaRPr lang="en-US"/>
          </a:p>
        </p:txBody>
      </p:sp>
    </p:spTree>
    <p:extLst>
      <p:ext uri="{BB962C8B-B14F-4D97-AF65-F5344CB8AC3E}">
        <p14:creationId xmlns:p14="http://schemas.microsoft.com/office/powerpoint/2010/main" val="4288406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5</a:t>
            </a:fld>
            <a:endParaRPr lang="en-US"/>
          </a:p>
        </p:txBody>
      </p:sp>
    </p:spTree>
    <p:extLst>
      <p:ext uri="{BB962C8B-B14F-4D97-AF65-F5344CB8AC3E}">
        <p14:creationId xmlns:p14="http://schemas.microsoft.com/office/powerpoint/2010/main" val="2801007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72907-5DAF-8C77-4115-066C1DD83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67075-DB65-7EB3-6914-FF7EB7B19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8962D-5E16-6377-BDB3-60D86AAF90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47ADF-F3D8-9EA6-9F92-11BCF6EF626F}"/>
              </a:ext>
            </a:extLst>
          </p:cNvPr>
          <p:cNvSpPr>
            <a:spLocks noGrp="1"/>
          </p:cNvSpPr>
          <p:nvPr>
            <p:ph type="sldNum" sz="quarter" idx="5"/>
          </p:nvPr>
        </p:nvSpPr>
        <p:spPr/>
        <p:txBody>
          <a:bodyPr/>
          <a:lstStyle/>
          <a:p>
            <a:fld id="{C31CD77D-4307-436E-A844-95A5CB5FF14C}" type="slidenum">
              <a:rPr lang="en-US" smtClean="0"/>
              <a:t>6</a:t>
            </a:fld>
            <a:endParaRPr lang="en-US"/>
          </a:p>
        </p:txBody>
      </p:sp>
    </p:spTree>
    <p:extLst>
      <p:ext uri="{BB962C8B-B14F-4D97-AF65-F5344CB8AC3E}">
        <p14:creationId xmlns:p14="http://schemas.microsoft.com/office/powerpoint/2010/main" val="4208082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7</a:t>
            </a:fld>
            <a:endParaRPr lang="en-US"/>
          </a:p>
        </p:txBody>
      </p:sp>
    </p:spTree>
    <p:extLst>
      <p:ext uri="{BB962C8B-B14F-4D97-AF65-F5344CB8AC3E}">
        <p14:creationId xmlns:p14="http://schemas.microsoft.com/office/powerpoint/2010/main" val="447381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8</a:t>
            </a:fld>
            <a:endParaRPr lang="en-US"/>
          </a:p>
        </p:txBody>
      </p:sp>
    </p:spTree>
    <p:extLst>
      <p:ext uri="{BB962C8B-B14F-4D97-AF65-F5344CB8AC3E}">
        <p14:creationId xmlns:p14="http://schemas.microsoft.com/office/powerpoint/2010/main" val="2934331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A471-6591-F6E5-0927-F29E76316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BE97D-7542-079C-2A2A-3D67C3375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C8D6E-6A75-F6A4-631C-C372B55473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4CC58-FCD8-E018-8C53-33A7FBD30E12}"/>
              </a:ext>
            </a:extLst>
          </p:cNvPr>
          <p:cNvSpPr>
            <a:spLocks noGrp="1"/>
          </p:cNvSpPr>
          <p:nvPr>
            <p:ph type="sldNum" sz="quarter" idx="5"/>
          </p:nvPr>
        </p:nvSpPr>
        <p:spPr/>
        <p:txBody>
          <a:bodyPr/>
          <a:lstStyle/>
          <a:p>
            <a:fld id="{C31CD77D-4307-436E-A844-95A5CB5FF14C}" type="slidenum">
              <a:rPr lang="en-US" smtClean="0"/>
              <a:t>9</a:t>
            </a:fld>
            <a:endParaRPr lang="en-US"/>
          </a:p>
        </p:txBody>
      </p:sp>
    </p:spTree>
    <p:extLst>
      <p:ext uri="{BB962C8B-B14F-4D97-AF65-F5344CB8AC3E}">
        <p14:creationId xmlns:p14="http://schemas.microsoft.com/office/powerpoint/2010/main" val="1239913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4613A-A06A-993E-BD89-A6496A71A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A12DD-F2F2-1295-C0EC-818BDBAD1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9DEC4-80C8-31F8-D408-272B152FC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5EFD2B-8500-E002-4A17-22FE3DD6D62A}"/>
              </a:ext>
            </a:extLst>
          </p:cNvPr>
          <p:cNvSpPr>
            <a:spLocks noGrp="1"/>
          </p:cNvSpPr>
          <p:nvPr>
            <p:ph type="sldNum" sz="quarter" idx="5"/>
          </p:nvPr>
        </p:nvSpPr>
        <p:spPr/>
        <p:txBody>
          <a:bodyPr/>
          <a:lstStyle/>
          <a:p>
            <a:fld id="{C31CD77D-4307-436E-A844-95A5CB5FF14C}" type="slidenum">
              <a:rPr lang="en-US" smtClean="0"/>
              <a:t>10</a:t>
            </a:fld>
            <a:endParaRPr lang="en-US"/>
          </a:p>
        </p:txBody>
      </p:sp>
    </p:spTree>
    <p:extLst>
      <p:ext uri="{BB962C8B-B14F-4D97-AF65-F5344CB8AC3E}">
        <p14:creationId xmlns:p14="http://schemas.microsoft.com/office/powerpoint/2010/main" val="2688073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D7F5C-1417-BD26-FBC6-252C5D017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28649-E363-F2DC-944D-9EF4AF1BE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A98B5-20BF-DA20-7E36-5A9F77B44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65BFAA-C695-BAC8-843B-44D1D23A07FD}"/>
              </a:ext>
            </a:extLst>
          </p:cNvPr>
          <p:cNvSpPr>
            <a:spLocks noGrp="1"/>
          </p:cNvSpPr>
          <p:nvPr>
            <p:ph type="sldNum" sz="quarter" idx="5"/>
          </p:nvPr>
        </p:nvSpPr>
        <p:spPr/>
        <p:txBody>
          <a:bodyPr/>
          <a:lstStyle/>
          <a:p>
            <a:fld id="{C31CD77D-4307-436E-A844-95A5CB5FF14C}" type="slidenum">
              <a:rPr lang="en-US" smtClean="0"/>
              <a:t>11</a:t>
            </a:fld>
            <a:endParaRPr lang="en-US"/>
          </a:p>
        </p:txBody>
      </p:sp>
    </p:spTree>
    <p:extLst>
      <p:ext uri="{BB962C8B-B14F-4D97-AF65-F5344CB8AC3E}">
        <p14:creationId xmlns:p14="http://schemas.microsoft.com/office/powerpoint/2010/main" val="4169283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80BD-D5FF-8553-4786-D892E7819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985E1-C911-24AA-58DB-9E43CBBC3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C200B-F62D-64FF-904D-B8BC773D5D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2A2486-A6BB-D2F2-25C1-86D08BFAADB7}"/>
              </a:ext>
            </a:extLst>
          </p:cNvPr>
          <p:cNvSpPr>
            <a:spLocks noGrp="1"/>
          </p:cNvSpPr>
          <p:nvPr>
            <p:ph type="sldNum" sz="quarter" idx="5"/>
          </p:nvPr>
        </p:nvSpPr>
        <p:spPr/>
        <p:txBody>
          <a:bodyPr/>
          <a:lstStyle/>
          <a:p>
            <a:fld id="{C31CD77D-4307-436E-A844-95A5CB5FF14C}" type="slidenum">
              <a:rPr lang="en-US" smtClean="0"/>
              <a:t>12</a:t>
            </a:fld>
            <a:endParaRPr lang="en-US"/>
          </a:p>
        </p:txBody>
      </p:sp>
    </p:spTree>
    <p:extLst>
      <p:ext uri="{BB962C8B-B14F-4D97-AF65-F5344CB8AC3E}">
        <p14:creationId xmlns:p14="http://schemas.microsoft.com/office/powerpoint/2010/main" val="3276451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13</a:t>
            </a:fld>
            <a:endParaRPr lang="en-US"/>
          </a:p>
        </p:txBody>
      </p:sp>
    </p:spTree>
    <p:extLst>
      <p:ext uri="{BB962C8B-B14F-4D97-AF65-F5344CB8AC3E}">
        <p14:creationId xmlns:p14="http://schemas.microsoft.com/office/powerpoint/2010/main" val="1576285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14</a:t>
            </a:fld>
            <a:endParaRPr lang="en-US"/>
          </a:p>
        </p:txBody>
      </p:sp>
    </p:spTree>
    <p:extLst>
      <p:ext uri="{BB962C8B-B14F-4D97-AF65-F5344CB8AC3E}">
        <p14:creationId xmlns:p14="http://schemas.microsoft.com/office/powerpoint/2010/main" val="3171157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A23E3-F807-D084-C880-8E03AE83A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0AAFF-2C05-298D-446F-459D56F854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9D09A-1CC5-10D8-07D6-382565F350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8459E-5AE3-700F-D262-E6079FA70A7B}"/>
              </a:ext>
            </a:extLst>
          </p:cNvPr>
          <p:cNvSpPr>
            <a:spLocks noGrp="1"/>
          </p:cNvSpPr>
          <p:nvPr>
            <p:ph type="sldNum" sz="quarter" idx="5"/>
          </p:nvPr>
        </p:nvSpPr>
        <p:spPr/>
        <p:txBody>
          <a:bodyPr/>
          <a:lstStyle/>
          <a:p>
            <a:fld id="{C31CD77D-4307-436E-A844-95A5CB5FF14C}" type="slidenum">
              <a:rPr lang="en-US" smtClean="0"/>
              <a:t>15</a:t>
            </a:fld>
            <a:endParaRPr lang="en-US"/>
          </a:p>
        </p:txBody>
      </p:sp>
    </p:spTree>
    <p:extLst>
      <p:ext uri="{BB962C8B-B14F-4D97-AF65-F5344CB8AC3E}">
        <p14:creationId xmlns:p14="http://schemas.microsoft.com/office/powerpoint/2010/main" val="3652924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D11E5-C21F-1512-8C2E-1C9F2D5DD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A4487-DA3A-F6F5-A3C6-4A00F0280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AA209-B704-E627-8886-4DF9E11326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5C13F-C0A9-4017-0236-63BD17249250}"/>
              </a:ext>
            </a:extLst>
          </p:cNvPr>
          <p:cNvSpPr>
            <a:spLocks noGrp="1"/>
          </p:cNvSpPr>
          <p:nvPr>
            <p:ph type="sldNum" sz="quarter" idx="5"/>
          </p:nvPr>
        </p:nvSpPr>
        <p:spPr/>
        <p:txBody>
          <a:bodyPr/>
          <a:lstStyle/>
          <a:p>
            <a:fld id="{C31CD77D-4307-436E-A844-95A5CB5FF14C}" type="slidenum">
              <a:rPr lang="en-US" smtClean="0"/>
              <a:t>16</a:t>
            </a:fld>
            <a:endParaRPr lang="en-US"/>
          </a:p>
        </p:txBody>
      </p:sp>
    </p:spTree>
    <p:extLst>
      <p:ext uri="{BB962C8B-B14F-4D97-AF65-F5344CB8AC3E}">
        <p14:creationId xmlns:p14="http://schemas.microsoft.com/office/powerpoint/2010/main" val="3735078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CEE3-1807-F46D-EE49-505CDD75C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C9965-15C3-B102-2D2A-DAAF316AC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847BD-55EC-3AD1-A4CA-3E3E98D1C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06365C-8C08-D773-4594-3BC71132EC86}"/>
              </a:ext>
            </a:extLst>
          </p:cNvPr>
          <p:cNvSpPr>
            <a:spLocks noGrp="1"/>
          </p:cNvSpPr>
          <p:nvPr>
            <p:ph type="sldNum" sz="quarter" idx="5"/>
          </p:nvPr>
        </p:nvSpPr>
        <p:spPr/>
        <p:txBody>
          <a:bodyPr/>
          <a:lstStyle/>
          <a:p>
            <a:fld id="{C31CD77D-4307-436E-A844-95A5CB5FF14C}" type="slidenum">
              <a:rPr lang="en-US" smtClean="0"/>
              <a:t>17</a:t>
            </a:fld>
            <a:endParaRPr lang="en-US"/>
          </a:p>
        </p:txBody>
      </p:sp>
    </p:spTree>
    <p:extLst>
      <p:ext uri="{BB962C8B-B14F-4D97-AF65-F5344CB8AC3E}">
        <p14:creationId xmlns:p14="http://schemas.microsoft.com/office/powerpoint/2010/main" val="2609057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18</a:t>
            </a:fld>
            <a:endParaRPr lang="en-US"/>
          </a:p>
        </p:txBody>
      </p:sp>
    </p:spTree>
    <p:extLst>
      <p:ext uri="{BB962C8B-B14F-4D97-AF65-F5344CB8AC3E}">
        <p14:creationId xmlns:p14="http://schemas.microsoft.com/office/powerpoint/2010/main" val="1687525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CD77D-4307-436E-A844-95A5CB5FF14C}" type="slidenum">
              <a:rPr lang="en-US" smtClean="0"/>
              <a:t>19</a:t>
            </a:fld>
            <a:endParaRPr lang="en-US"/>
          </a:p>
        </p:txBody>
      </p:sp>
    </p:spTree>
    <p:extLst>
      <p:ext uri="{BB962C8B-B14F-4D97-AF65-F5344CB8AC3E}">
        <p14:creationId xmlns:p14="http://schemas.microsoft.com/office/powerpoint/2010/main" val="3787049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32F9-D161-CA2D-49E3-AF5619D2A4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EC4595-F67B-68C7-E219-D57049E450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0D113C-F318-6ED9-4104-827F2D706F43}"/>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508A6CCE-902A-1752-AB19-86D1E28C5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491D53-98B6-1040-6B01-B3E8B4C395AF}"/>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2894489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E532-7EC4-3E79-F1DE-04612DFD4A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A6800-60B0-9D6B-4C9D-37A3B313AA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C54E7D-AE7D-49DE-DA8C-05C7C8062438}"/>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D5076CC5-36D3-ECB8-4040-FFE5FD2B5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B2961-64D5-A09A-139F-3FEDF0C99606}"/>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505792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0769-AC20-BB08-9524-5B9CC5A14E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C3E71B-F318-CC5B-2E9B-F3BCF54D16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29EDB6-7A6D-3E21-9E98-6E60CA4BAC43}"/>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C285C21C-B7D6-289C-9FE5-6F96C87218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0AD928-131A-A657-B7FA-440C375956C5}"/>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343841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B88E7-AECC-A880-BEEC-810480D79F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5BA40C-89F9-6EA0-8047-9555719228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78233D-3D1B-2443-8183-DAB178B7A6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8E2BAF-EAFA-1139-950E-9BCFBA69A9E8}"/>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6" name="Footer Placeholder 5">
            <a:extLst>
              <a:ext uri="{FF2B5EF4-FFF2-40B4-BE49-F238E27FC236}">
                <a16:creationId xmlns:a16="http://schemas.microsoft.com/office/drawing/2014/main" id="{DD9EF249-7B28-B650-E9EA-E21857FCB0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9B5724-3EC2-B592-C32B-B5CAAFA5531C}"/>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712604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C5DF-3B05-8981-514E-59AA361244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C23A6C-B322-93AF-CED2-853101A4BF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EF374A-25A2-993A-9E31-C7D6FB165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52E7C2-B4F6-D4D7-CACA-2D400D9023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542484-16E3-5690-01F4-73C028C5DB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8519E7-E01E-97EE-B0C6-91EEA58A1FF9}"/>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8" name="Footer Placeholder 7">
            <a:extLst>
              <a:ext uri="{FF2B5EF4-FFF2-40B4-BE49-F238E27FC236}">
                <a16:creationId xmlns:a16="http://schemas.microsoft.com/office/drawing/2014/main" id="{7E729CE8-2EF2-04D8-A89D-BC04CA54E0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A37A19-2799-52FB-0C67-45433F20C082}"/>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1216114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D475-AC1D-173D-C71F-4A243F8EA4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B6DEE2-6C28-A6F3-141A-FF04900EB4E7}"/>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4" name="Footer Placeholder 3">
            <a:extLst>
              <a:ext uri="{FF2B5EF4-FFF2-40B4-BE49-F238E27FC236}">
                <a16:creationId xmlns:a16="http://schemas.microsoft.com/office/drawing/2014/main" id="{DFFDBB9D-BB30-CD78-C873-DD9AC0C12E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BD118D-DCA9-228F-08D9-423152FF7281}"/>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2903274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BE074C-3AF5-EAB2-5A96-0AAF70C77B92}"/>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3" name="Footer Placeholder 2">
            <a:extLst>
              <a:ext uri="{FF2B5EF4-FFF2-40B4-BE49-F238E27FC236}">
                <a16:creationId xmlns:a16="http://schemas.microsoft.com/office/drawing/2014/main" id="{66B2322F-4AD6-B8C5-828E-8FBB738BBE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3EA03C-F929-0779-DA1F-C428F6FBA6A0}"/>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338882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B3F9-C107-F8F3-7117-BD700D391B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3112DF-564E-FC3E-8807-D3CFCC1B4E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2BBB95-61A9-81AF-6D37-2156AF5B1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B4FAD-F855-423C-3FF6-3BAD6CDAD162}"/>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6" name="Footer Placeholder 5">
            <a:extLst>
              <a:ext uri="{FF2B5EF4-FFF2-40B4-BE49-F238E27FC236}">
                <a16:creationId xmlns:a16="http://schemas.microsoft.com/office/drawing/2014/main" id="{509BEA9F-9C23-5210-26DC-EE1626ED3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430897-5A67-9BB5-3D52-401CFE57BEF4}"/>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35455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9D63-E3FD-1A50-9935-9C806F82B2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65EC5E-15F4-0502-C897-F392021487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CCBD61-9D05-81C2-F02C-E243AEF6A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8D901-584D-C68C-8045-2CF8795EDBDB}"/>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6" name="Footer Placeholder 5">
            <a:extLst>
              <a:ext uri="{FF2B5EF4-FFF2-40B4-BE49-F238E27FC236}">
                <a16:creationId xmlns:a16="http://schemas.microsoft.com/office/drawing/2014/main" id="{95C82BCB-5BDA-DE08-8C3D-B1E633A72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82493-02BB-0624-C911-EF1CA6642564}"/>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119474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FDC56-FFB3-A7B2-289E-A8FD3422C3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C939C3-EAF6-E8DA-1534-F8DA4CC7CC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9F1A2-FB91-F55E-8C64-DFFE47A33AC9}"/>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DF5B5032-005D-0C64-DFA5-098A15125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A2E3B2-7B9E-CAB4-FE26-3601464E7979}"/>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55626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FFFC42-B332-4DD8-87A1-B0E7F50FEA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0D574B-BE35-96C8-7570-1AE3D00556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4D0B44-DF9C-AF7B-50F5-B87C10E8F814}"/>
              </a:ext>
            </a:extLst>
          </p:cNvPr>
          <p:cNvSpPr>
            <a:spLocks noGrp="1"/>
          </p:cNvSpPr>
          <p:nvPr>
            <p:ph type="dt" sz="half" idx="10"/>
          </p:nvPr>
        </p:nvSpPr>
        <p:spPr/>
        <p:txBody>
          <a:body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7005489B-DCD8-C2B3-1662-E9266A5C3B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4457-7F3E-938E-16FE-1C61A227E2B5}"/>
              </a:ext>
            </a:extLst>
          </p:cNvPr>
          <p:cNvSpPr>
            <a:spLocks noGrp="1"/>
          </p:cNvSpPr>
          <p:nvPr>
            <p:ph type="sldNum" sz="quarter" idx="12"/>
          </p:nvPr>
        </p:nvSpPr>
        <p:spPr/>
        <p:txBody>
          <a:bodyPr/>
          <a:lstStyle/>
          <a:p>
            <a:fld id="{9C82AD86-0D9A-4DA7-A975-662653CBC7C2}" type="slidenum">
              <a:rPr lang="en-US" smtClean="0"/>
              <a:t>‹#›</a:t>
            </a:fld>
            <a:endParaRPr lang="en-US"/>
          </a:p>
        </p:txBody>
      </p:sp>
    </p:spTree>
    <p:extLst>
      <p:ext uri="{BB962C8B-B14F-4D97-AF65-F5344CB8AC3E}">
        <p14:creationId xmlns:p14="http://schemas.microsoft.com/office/powerpoint/2010/main" val="103959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8FA867-9F0E-BA04-26C1-9EBD2AAD38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ADCE74-8DBE-4D65-483C-C11F0FB284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402CD-33BC-0221-D1C1-03D879AF62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E346F0-627B-4ED9-BD0E-0EBDFB9D5364}" type="datetimeFigureOut">
              <a:rPr lang="en-US" smtClean="0"/>
              <a:t>1/15/2025</a:t>
            </a:fld>
            <a:endParaRPr lang="en-US"/>
          </a:p>
        </p:txBody>
      </p:sp>
      <p:sp>
        <p:nvSpPr>
          <p:cNvPr id="5" name="Footer Placeholder 4">
            <a:extLst>
              <a:ext uri="{FF2B5EF4-FFF2-40B4-BE49-F238E27FC236}">
                <a16:creationId xmlns:a16="http://schemas.microsoft.com/office/drawing/2014/main" id="{ACE60288-DC48-ADE1-0BE9-688EA50E05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6B3F38-B2CB-AC3B-FB08-8CEE99B1A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82AD86-0D9A-4DA7-A975-662653CBC7C2}" type="slidenum">
              <a:rPr lang="en-US" smtClean="0"/>
              <a:t>‹#›</a:t>
            </a:fld>
            <a:endParaRPr lang="en-US"/>
          </a:p>
        </p:txBody>
      </p:sp>
    </p:spTree>
    <p:extLst>
      <p:ext uri="{BB962C8B-B14F-4D97-AF65-F5344CB8AC3E}">
        <p14:creationId xmlns:p14="http://schemas.microsoft.com/office/powerpoint/2010/main" val="3816962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A6B56BB4-D8B9-9452-ACDE-783A76331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15436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81C8849-2C95-7F9A-44B4-82623A0D4313}"/>
              </a:ext>
            </a:extLst>
          </p:cNvPr>
          <p:cNvSpPr txBox="1"/>
          <p:nvPr/>
        </p:nvSpPr>
        <p:spPr>
          <a:xfrm>
            <a:off x="2819400" y="1543664"/>
            <a:ext cx="7396171" cy="1323439"/>
          </a:xfrm>
          <a:prstGeom prst="rect">
            <a:avLst/>
          </a:prstGeom>
          <a:noFill/>
        </p:spPr>
        <p:txBody>
          <a:bodyPr wrap="square" rtlCol="0">
            <a:spAutoFit/>
          </a:bodyPr>
          <a:lstStyle/>
          <a:p>
            <a:pPr algn="ctr"/>
            <a:r>
              <a:rPr lang="vi-VN" sz="4000" b="1">
                <a:solidFill>
                  <a:schemeClr val="accent1">
                    <a:lumMod val="75000"/>
                  </a:schemeClr>
                </a:solidFill>
                <a:latin typeface="+mj-lt"/>
              </a:rPr>
              <a:t>BÁO CÁO ĐỒ ÁN THỰC TẬP CHUYÊN NGHÀNH</a:t>
            </a:r>
            <a:endParaRPr lang="en-US" sz="4000" b="1" dirty="0">
              <a:solidFill>
                <a:schemeClr val="accent1">
                  <a:lumMod val="75000"/>
                </a:schemeClr>
              </a:solidFill>
              <a:latin typeface="+mj-lt"/>
            </a:endParaRPr>
          </a:p>
        </p:txBody>
      </p:sp>
      <p:sp>
        <p:nvSpPr>
          <p:cNvPr id="5" name="TextBox 4">
            <a:extLst>
              <a:ext uri="{FF2B5EF4-FFF2-40B4-BE49-F238E27FC236}">
                <a16:creationId xmlns:a16="http://schemas.microsoft.com/office/drawing/2014/main" id="{EB06A648-48A5-CA76-1656-8E78837DCBDE}"/>
              </a:ext>
            </a:extLst>
          </p:cNvPr>
          <p:cNvSpPr txBox="1"/>
          <p:nvPr/>
        </p:nvSpPr>
        <p:spPr>
          <a:xfrm>
            <a:off x="9307100" y="5072686"/>
            <a:ext cx="3362632" cy="1107996"/>
          </a:xfrm>
          <a:prstGeom prst="rect">
            <a:avLst/>
          </a:prstGeom>
          <a:noFill/>
        </p:spPr>
        <p:txBody>
          <a:bodyPr wrap="square" rtlCol="0">
            <a:spAutoFit/>
          </a:bodyPr>
          <a:lstStyle/>
          <a:p>
            <a:r>
              <a:rPr lang="vi-VN" b="1" dirty="0">
                <a:solidFill>
                  <a:schemeClr val="accent1">
                    <a:lumMod val="75000"/>
                  </a:schemeClr>
                </a:solidFill>
                <a:latin typeface="+mj-lt"/>
              </a:rPr>
              <a:t>             Sinh viên thực hiện</a:t>
            </a:r>
          </a:p>
          <a:p>
            <a:pPr algn="ctr"/>
            <a:r>
              <a:rPr lang="vi-VN" sz="1600" dirty="0">
                <a:solidFill>
                  <a:schemeClr val="accent1">
                    <a:lumMod val="75000"/>
                  </a:schemeClr>
                </a:solidFill>
                <a:latin typeface="+mj-lt"/>
              </a:rPr>
              <a:t>Sơn Sô Phia</a:t>
            </a:r>
          </a:p>
          <a:p>
            <a:pPr algn="ctr"/>
            <a:r>
              <a:rPr lang="vi-VN" sz="1600" dirty="0">
                <a:solidFill>
                  <a:schemeClr val="accent1">
                    <a:lumMod val="75000"/>
                  </a:schemeClr>
                </a:solidFill>
                <a:latin typeface="+mj-lt"/>
              </a:rPr>
              <a:t>DA21TTB</a:t>
            </a:r>
          </a:p>
          <a:p>
            <a:r>
              <a:rPr lang="vi-VN" sz="1600" dirty="0">
                <a:solidFill>
                  <a:schemeClr val="accent1">
                    <a:lumMod val="75000"/>
                  </a:schemeClr>
                </a:solidFill>
                <a:latin typeface="+mj-lt"/>
              </a:rPr>
              <a:t>	     110121083</a:t>
            </a:r>
          </a:p>
        </p:txBody>
      </p:sp>
      <p:pic>
        <p:nvPicPr>
          <p:cNvPr id="9" name="Picture 8" descr="A colorful hexagons with icons&#10;&#10;Description automatically generated">
            <a:extLst>
              <a:ext uri="{FF2B5EF4-FFF2-40B4-BE49-F238E27FC236}">
                <a16:creationId xmlns:a16="http://schemas.microsoft.com/office/drawing/2014/main" id="{F51EDF5A-262D-3289-E9E3-060FBD67C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62292"/>
            <a:ext cx="4885765" cy="2574930"/>
          </a:xfrm>
          <a:prstGeom prst="rect">
            <a:avLst/>
          </a:prstGeom>
        </p:spPr>
      </p:pic>
      <p:sp>
        <p:nvSpPr>
          <p:cNvPr id="3" name="TextBox 2">
            <a:extLst>
              <a:ext uri="{FF2B5EF4-FFF2-40B4-BE49-F238E27FC236}">
                <a16:creationId xmlns:a16="http://schemas.microsoft.com/office/drawing/2014/main" id="{5C5487DE-541A-932E-8E6C-B12815CE58EB}"/>
              </a:ext>
            </a:extLst>
          </p:cNvPr>
          <p:cNvSpPr txBox="1"/>
          <p:nvPr/>
        </p:nvSpPr>
        <p:spPr>
          <a:xfrm>
            <a:off x="3189122" y="3004887"/>
            <a:ext cx="6436659" cy="1296702"/>
          </a:xfrm>
          <a:prstGeom prst="rect">
            <a:avLst/>
          </a:prstGeom>
          <a:noFill/>
        </p:spPr>
        <p:txBody>
          <a:bodyPr wrap="square">
            <a:spAutoFit/>
          </a:bodyPr>
          <a:lstStyle/>
          <a:p>
            <a:pPr algn="ctr">
              <a:lnSpc>
                <a:spcPct val="150000"/>
              </a:lnSpc>
            </a:pPr>
            <a:r>
              <a:rPr lang="vi-VN" dirty="0">
                <a:solidFill>
                  <a:schemeClr val="accent1">
                    <a:lumMod val="75000"/>
                  </a:schemeClr>
                </a:solidFill>
                <a:latin typeface="+mj-lt"/>
              </a:rPr>
              <a:t> ĐỀ TÀI: THIẾT KẾ APP CHO NGƯỜI KHMER CAO TUỔI TĂNG CƯỜNG KẾT NỐI XÃ HỘI THEO QUY TRÌNH </a:t>
            </a:r>
          </a:p>
          <a:p>
            <a:pPr algn="ctr">
              <a:lnSpc>
                <a:spcPct val="150000"/>
              </a:lnSpc>
            </a:pPr>
            <a:r>
              <a:rPr lang="vi-VN" dirty="0">
                <a:solidFill>
                  <a:schemeClr val="accent1">
                    <a:lumMod val="75000"/>
                  </a:schemeClr>
                </a:solidFill>
                <a:latin typeface="+mj-lt"/>
              </a:rPr>
              <a:t>LẤY NGƯỜI DÙNG LÀM TRUNG TÂM</a:t>
            </a:r>
            <a:endParaRPr lang="en-US" dirty="0"/>
          </a:p>
        </p:txBody>
      </p:sp>
    </p:spTree>
    <p:extLst>
      <p:ext uri="{BB962C8B-B14F-4D97-AF65-F5344CB8AC3E}">
        <p14:creationId xmlns:p14="http://schemas.microsoft.com/office/powerpoint/2010/main" val="158537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1C8849-2C95-7F9A-44B4-82623A0D4313}"/>
              </a:ext>
            </a:extLst>
          </p:cNvPr>
          <p:cNvSpPr txBox="1"/>
          <p:nvPr/>
        </p:nvSpPr>
        <p:spPr>
          <a:xfrm>
            <a:off x="4230617" y="823181"/>
            <a:ext cx="4383343" cy="707886"/>
          </a:xfrm>
          <a:prstGeom prst="rect">
            <a:avLst/>
          </a:prstGeom>
          <a:noFill/>
        </p:spPr>
        <p:txBody>
          <a:bodyPr wrap="square" rtlCol="0">
            <a:spAutoFit/>
          </a:bodyPr>
          <a:lstStyle/>
          <a:p>
            <a:pPr algn="ctr"/>
            <a:r>
              <a:rPr lang="vi-VN" sz="4000" b="1" noProof="0" dirty="0">
                <a:solidFill>
                  <a:schemeClr val="accent2"/>
                </a:solidFill>
                <a:latin typeface="+mj-lt"/>
              </a:rPr>
              <a:t>Giới thiệu đề tài</a:t>
            </a:r>
          </a:p>
        </p:txBody>
      </p:sp>
      <p:sp>
        <p:nvSpPr>
          <p:cNvPr id="2" name="TextBox 1">
            <a:extLst>
              <a:ext uri="{FF2B5EF4-FFF2-40B4-BE49-F238E27FC236}">
                <a16:creationId xmlns:a16="http://schemas.microsoft.com/office/drawing/2014/main" id="{4849F817-27F7-D5AE-C59D-B982895A6E4D}"/>
              </a:ext>
            </a:extLst>
          </p:cNvPr>
          <p:cNvSpPr txBox="1"/>
          <p:nvPr/>
        </p:nvSpPr>
        <p:spPr>
          <a:xfrm>
            <a:off x="1011889" y="1598936"/>
            <a:ext cx="9674040" cy="29238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sz="1600" b="1" noProof="0" dirty="0">
                <a:solidFill>
                  <a:schemeClr val="tx2">
                    <a:lumMod val="75000"/>
                    <a:lumOff val="25000"/>
                  </a:schemeClr>
                </a:solidFill>
                <a:latin typeface="+mj-lt"/>
                <a:cs typeface="Fz Poppins Med" panose="020B0604020202020204" charset="0"/>
              </a:rPr>
              <a:t>Lý do chọn đề tài:</a:t>
            </a:r>
          </a:p>
          <a:p>
            <a:pPr>
              <a:lnSpc>
                <a:spcPct val="150000"/>
              </a:lnSpc>
            </a:pPr>
            <a:r>
              <a:rPr lang="vi-VN" sz="1600" b="1" noProof="0" dirty="0">
                <a:solidFill>
                  <a:schemeClr val="tx2">
                    <a:lumMod val="75000"/>
                    <a:lumOff val="25000"/>
                  </a:schemeClr>
                </a:solidFill>
                <a:latin typeface="+mj-lt"/>
                <a:cs typeface="Fz Poppins Med" panose="020B0604020202020204" charset="0"/>
              </a:rPr>
              <a:t>	</a:t>
            </a:r>
            <a:r>
              <a:rPr lang="vi-VN" sz="1600" noProof="0" dirty="0">
                <a:latin typeface="+mj-lt"/>
                <a:cs typeface="Fz Poppins Med" panose="020B0604020202020204" charset="0"/>
              </a:rPr>
              <a:t>Hiện nay trong tình hình đất nước phát triển từng ngày, đi đôi với công nghệ phát triển vượt bậc. Tuy nhiên để thích ứng vói nó cũng rất khó khăn đặc biệt là những người lớn tuổi. Một trong số đó là người dân Khmer cao tuổi </a:t>
            </a:r>
            <a:r>
              <a:rPr lang="vi-VN" sz="1600" noProof="0" dirty="0">
                <a:latin typeface="Times New Roman" panose="02020603050405020304" pitchFamily="18" charset="0"/>
                <a:cs typeface="Times New Roman" panose="02020603050405020304" pitchFamily="18" charset="0"/>
              </a:rPr>
              <a:t>gặp khó khăn trong việc giao tiếp và kết nối với gia đình, bạn bè do rào cản ngôn ngữ và hạn chế trong việc sử dụng công nghệ. Ở ngoài thị trường hiện nay có nhiều ứng dụng kết nối xã hội với nhau như Facebook, Zalo,..nhưng nó rất khó sử dụng đối với người lớn tuổi. Họ mong muốn xây dựng một ứng dụng đơn giản, thân thiện, hỗ trợ kết nối cộng đồng và giảm sự cô đơn cho người lớn tuổi</a:t>
            </a:r>
            <a:endParaRPr lang="vi-VN" sz="1600" b="1" noProof="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vi-VN" sz="1600" b="1" noProof="0" dirty="0">
              <a:solidFill>
                <a:schemeClr val="tx2">
                  <a:lumMod val="75000"/>
                  <a:lumOff val="25000"/>
                </a:schemeClr>
              </a:solidFill>
              <a:latin typeface="+mj-lt"/>
              <a:cs typeface="Fz Poppins Med" panose="020B0604020202020204" charset="0"/>
            </a:endParaRPr>
          </a:p>
        </p:txBody>
      </p:sp>
      <p:pic>
        <p:nvPicPr>
          <p:cNvPr id="22" name="Picture 21" descr="A black background with white text&#10;&#10;Description automatically generated">
            <a:extLst>
              <a:ext uri="{FF2B5EF4-FFF2-40B4-BE49-F238E27FC236}">
                <a16:creationId xmlns:a16="http://schemas.microsoft.com/office/drawing/2014/main" id="{69F0871F-4B41-8A61-E3E4-8EC89AFA3D28}"/>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0" y="11474"/>
            <a:ext cx="6566102" cy="1126608"/>
          </a:xfrm>
          <a:prstGeom prst="rect">
            <a:avLst/>
          </a:prstGeom>
        </p:spPr>
      </p:pic>
      <p:sp>
        <p:nvSpPr>
          <p:cNvPr id="5" name="TextBox 4">
            <a:extLst>
              <a:ext uri="{FF2B5EF4-FFF2-40B4-BE49-F238E27FC236}">
                <a16:creationId xmlns:a16="http://schemas.microsoft.com/office/drawing/2014/main" id="{3846D60E-2A1B-7FAC-8259-ABFC2F8A3980}"/>
              </a:ext>
            </a:extLst>
          </p:cNvPr>
          <p:cNvSpPr txBox="1"/>
          <p:nvPr/>
        </p:nvSpPr>
        <p:spPr>
          <a:xfrm>
            <a:off x="1011888" y="4303055"/>
            <a:ext cx="9736793" cy="2366289"/>
          </a:xfrm>
          <a:prstGeom prst="rect">
            <a:avLst/>
          </a:prstGeom>
          <a:noFill/>
        </p:spPr>
        <p:txBody>
          <a:bodyPr wrap="square">
            <a:spAutoFit/>
          </a:bodyPr>
          <a:lstStyle/>
          <a:p>
            <a:pPr marL="285750" indent="-285750">
              <a:buFont typeface="Arial" panose="020B0604020202020204" pitchFamily="34" charset="0"/>
              <a:buChar char="•"/>
            </a:pPr>
            <a:r>
              <a:rPr lang="vi-VN" sz="1600" b="1" noProof="0" dirty="0">
                <a:solidFill>
                  <a:schemeClr val="tx2">
                    <a:lumMod val="75000"/>
                    <a:lumOff val="25000"/>
                  </a:schemeClr>
                </a:solidFill>
                <a:latin typeface="+mj-lt"/>
                <a:cs typeface="Fz Poppins Med" panose="020B0604020202020204" charset="0"/>
              </a:rPr>
              <a:t>Mục tiêu nghiên cứu</a:t>
            </a:r>
          </a:p>
          <a:p>
            <a:pPr>
              <a:lnSpc>
                <a:spcPct val="150000"/>
              </a:lnSpc>
            </a:pPr>
            <a:r>
              <a:rPr lang="vi-VN" dirty="0"/>
              <a:t>	</a:t>
            </a:r>
            <a:r>
              <a:rPr lang="vi-VN" dirty="0">
                <a:latin typeface="+mj-lt"/>
              </a:rPr>
              <a:t>Tìm hiểu nhu cầu và thói quen sử dụng công nghệ của người Khmer cao tuổi.</a:t>
            </a:r>
          </a:p>
          <a:p>
            <a:pPr>
              <a:lnSpc>
                <a:spcPct val="150000"/>
              </a:lnSpc>
            </a:pPr>
            <a:r>
              <a:rPr lang="vi-VN" dirty="0">
                <a:latin typeface="+mj-lt"/>
              </a:rPr>
              <a:t>Thiết kế một ứng dụng hỗ trợ giao tiếp, kết nối xã hội với giao diện thân thiện, dễ sử dụng.</a:t>
            </a:r>
          </a:p>
          <a:p>
            <a:pPr>
              <a:lnSpc>
                <a:spcPct val="150000"/>
              </a:lnSpc>
            </a:pPr>
            <a:r>
              <a:rPr lang="vi-VN" dirty="0">
                <a:latin typeface="+mj-lt"/>
              </a:rPr>
              <a:t>Tích hợp các tính năng phù hợp như gọi video, nhắn tin, cập nhật tin tức cộng đồng.</a:t>
            </a:r>
          </a:p>
          <a:p>
            <a:pPr>
              <a:lnSpc>
                <a:spcPct val="150000"/>
              </a:lnSpc>
            </a:pPr>
            <a:r>
              <a:rPr lang="vi-VN" dirty="0">
                <a:latin typeface="+mj-lt"/>
              </a:rPr>
              <a:t>Áp dụng quy trình thiết kế lấy người dùng làm trung tâm để đảm bảo ứng dụng đáp ứng đúng nhu cầu thực tế.</a:t>
            </a:r>
          </a:p>
        </p:txBody>
      </p:sp>
    </p:spTree>
    <p:extLst>
      <p:ext uri="{BB962C8B-B14F-4D97-AF65-F5344CB8AC3E}">
        <p14:creationId xmlns:p14="http://schemas.microsoft.com/office/powerpoint/2010/main" val="301024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sp>
        <p:nvSpPr>
          <p:cNvPr id="3" name="TextBox 2">
            <a:extLst>
              <a:ext uri="{FF2B5EF4-FFF2-40B4-BE49-F238E27FC236}">
                <a16:creationId xmlns:a16="http://schemas.microsoft.com/office/drawing/2014/main" id="{C8CBAD7C-5B65-A778-5D3F-1B83EBA11269}"/>
              </a:ext>
            </a:extLst>
          </p:cNvPr>
          <p:cNvSpPr txBox="1"/>
          <p:nvPr/>
        </p:nvSpPr>
        <p:spPr>
          <a:xfrm>
            <a:off x="2802916" y="3020409"/>
            <a:ext cx="7389955" cy="923330"/>
          </a:xfrm>
          <a:prstGeom prst="rect">
            <a:avLst/>
          </a:prstGeom>
          <a:noFill/>
        </p:spPr>
        <p:txBody>
          <a:bodyPr wrap="square" rtlCol="0">
            <a:spAutoFit/>
          </a:bodyPr>
          <a:lstStyle/>
          <a:p>
            <a:r>
              <a:rPr lang="vi-VN" sz="5400" b="1" dirty="0">
                <a:solidFill>
                  <a:schemeClr val="accent2"/>
                </a:solidFill>
                <a:latin typeface="+mj-lt"/>
              </a:rPr>
              <a:t>1. CƠ SỞ LÝ THUYẾT</a:t>
            </a:r>
            <a:endParaRPr lang="en-US" sz="5400" b="1" dirty="0">
              <a:solidFill>
                <a:schemeClr val="accent2"/>
              </a:solidFill>
              <a:latin typeface="+mj-lt"/>
            </a:endParaRPr>
          </a:p>
        </p:txBody>
      </p:sp>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a:t>
            </a:r>
            <a:endParaRPr lang="en-US" b="1" dirty="0">
              <a:solidFill>
                <a:schemeClr val="accent2"/>
              </a:solidFill>
              <a:latin typeface="+mj-lt"/>
            </a:endParaRPr>
          </a:p>
        </p:txBody>
      </p:sp>
      <p:cxnSp>
        <p:nvCxnSpPr>
          <p:cNvPr id="18" name="Straight Connector 17">
            <a:extLst>
              <a:ext uri="{FF2B5EF4-FFF2-40B4-BE49-F238E27FC236}">
                <a16:creationId xmlns:a16="http://schemas.microsoft.com/office/drawing/2014/main" id="{39729735-0418-43FC-5B51-D3E6EAA90EB0}"/>
              </a:ext>
            </a:extLst>
          </p:cNvPr>
          <p:cNvCxnSpPr>
            <a:cxnSpLocks/>
          </p:cNvCxnSpPr>
          <p:nvPr/>
        </p:nvCxnSpPr>
        <p:spPr>
          <a:xfrm>
            <a:off x="0" y="6272981"/>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20" name="Picture 10">
            <a:extLst>
              <a:ext uri="{FF2B5EF4-FFF2-40B4-BE49-F238E27FC236}">
                <a16:creationId xmlns:a16="http://schemas.microsoft.com/office/drawing/2014/main" id="{DC8CB053-4DF6-F33F-44C1-802C37F5DD2C}"/>
              </a:ext>
            </a:extLst>
          </p:cNvPr>
          <p:cNvPicPr>
            <a:picLocks noChangeAspect="1"/>
          </p:cNvPicPr>
          <p:nvPr/>
        </p:nvPicPr>
        <p:blipFill>
          <a:blip r:embed="rId5"/>
          <a:srcRect/>
          <a:stretch>
            <a:fillRect/>
          </a:stretch>
        </p:blipFill>
        <p:spPr>
          <a:xfrm>
            <a:off x="9716028" y="4682173"/>
            <a:ext cx="2269495" cy="1506613"/>
          </a:xfrm>
          <a:prstGeom prst="rect">
            <a:avLst/>
          </a:prstGeom>
        </p:spPr>
      </p:pic>
    </p:spTree>
    <p:extLst>
      <p:ext uri="{BB962C8B-B14F-4D97-AF65-F5344CB8AC3E}">
        <p14:creationId xmlns:p14="http://schemas.microsoft.com/office/powerpoint/2010/main" val="3460775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2</a:t>
            </a:r>
            <a:endParaRPr lang="en-US" b="1" dirty="0">
              <a:solidFill>
                <a:schemeClr val="accent2"/>
              </a:solidFill>
              <a:latin typeface="+mj-lt"/>
            </a:endParaRPr>
          </a:p>
        </p:txBody>
      </p:sp>
      <p:sp>
        <p:nvSpPr>
          <p:cNvPr id="4" name="TextBox 3">
            <a:extLst>
              <a:ext uri="{FF2B5EF4-FFF2-40B4-BE49-F238E27FC236}">
                <a16:creationId xmlns:a16="http://schemas.microsoft.com/office/drawing/2014/main" id="{CE879C45-83F1-E220-FD0A-935B57C539A2}"/>
              </a:ext>
            </a:extLst>
          </p:cNvPr>
          <p:cNvSpPr txBox="1"/>
          <p:nvPr/>
        </p:nvSpPr>
        <p:spPr>
          <a:xfrm>
            <a:off x="597310" y="1518629"/>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CƠ SỞ LÝ THUYẾT</a:t>
            </a:r>
          </a:p>
        </p:txBody>
      </p:sp>
      <p:sp>
        <p:nvSpPr>
          <p:cNvPr id="6" name="TextBox 5">
            <a:extLst>
              <a:ext uri="{FF2B5EF4-FFF2-40B4-BE49-F238E27FC236}">
                <a16:creationId xmlns:a16="http://schemas.microsoft.com/office/drawing/2014/main" id="{B0F15FD3-05BB-2780-75F2-DA4914B9AD9B}"/>
              </a:ext>
            </a:extLst>
          </p:cNvPr>
          <p:cNvSpPr txBox="1"/>
          <p:nvPr/>
        </p:nvSpPr>
        <p:spPr>
          <a:xfrm>
            <a:off x="597310" y="1961538"/>
            <a:ext cx="6779342" cy="646331"/>
          </a:xfrm>
          <a:prstGeom prst="rect">
            <a:avLst/>
          </a:prstGeom>
          <a:noFill/>
        </p:spPr>
        <p:txBody>
          <a:bodyPr wrap="square">
            <a:spAutoFit/>
          </a:bodyPr>
          <a:lstStyle/>
          <a:p>
            <a:r>
              <a:rPr lang="vi-VN" sz="1800" b="1" dirty="0">
                <a:solidFill>
                  <a:schemeClr val="accent2"/>
                </a:solidFill>
                <a:latin typeface="+mj-lt"/>
              </a:rPr>
              <a:t>1. </a:t>
            </a:r>
            <a:r>
              <a:rPr lang="vi-VN" b="1" dirty="0">
                <a:solidFill>
                  <a:schemeClr val="accent2"/>
                </a:solidFill>
                <a:latin typeface="+mj-lt"/>
              </a:rPr>
              <a:t>Đặc điểm người Khmer cao tuổi</a:t>
            </a:r>
            <a:endParaRPr lang="vi-VN" dirty="0">
              <a:solidFill>
                <a:schemeClr val="accent2"/>
              </a:solidFill>
              <a:latin typeface="+mj-lt"/>
            </a:endParaRPr>
          </a:p>
          <a:p>
            <a:endParaRPr lang="vi-VN" sz="1800" b="1" dirty="0">
              <a:solidFill>
                <a:schemeClr val="accent2"/>
              </a:solidFill>
              <a:latin typeface="+mj-lt"/>
            </a:endParaRPr>
          </a:p>
        </p:txBody>
      </p:sp>
      <p:sp>
        <p:nvSpPr>
          <p:cNvPr id="8" name="TextBox 7">
            <a:extLst>
              <a:ext uri="{FF2B5EF4-FFF2-40B4-BE49-F238E27FC236}">
                <a16:creationId xmlns:a16="http://schemas.microsoft.com/office/drawing/2014/main" id="{380BEFBB-B47B-1DD9-CEA6-86DD6A4BB8AA}"/>
              </a:ext>
            </a:extLst>
          </p:cNvPr>
          <p:cNvSpPr txBox="1"/>
          <p:nvPr/>
        </p:nvSpPr>
        <p:spPr>
          <a:xfrm>
            <a:off x="803787" y="2479135"/>
            <a:ext cx="5292213" cy="3366563"/>
          </a:xfrm>
          <a:prstGeom prst="rect">
            <a:avLst/>
          </a:prstGeom>
          <a:noFill/>
        </p:spPr>
        <p:txBody>
          <a:bodyPr wrap="square">
            <a:spAutoFit/>
          </a:bodyPr>
          <a:lstStyle/>
          <a:p>
            <a:pPr algn="just">
              <a:lnSpc>
                <a:spcPct val="150000"/>
              </a:lnSpc>
              <a:buFont typeface="Arial" panose="020B0604020202020204" pitchFamily="34" charset="0"/>
              <a:buChar char="•"/>
            </a:pPr>
            <a:r>
              <a:rPr lang="vi-VN" dirty="0">
                <a:solidFill>
                  <a:schemeClr val="tx2">
                    <a:lumMod val="75000"/>
                    <a:lumOff val="25000"/>
                  </a:schemeClr>
                </a:solidFill>
                <a:latin typeface="+mj-lt"/>
              </a:rPr>
              <a:t>  Chủ yếu sinh sống tại các tỉnh miền Tây Nam Bộ, Việt Nam.</a:t>
            </a:r>
          </a:p>
          <a:p>
            <a:pPr algn="just">
              <a:lnSpc>
                <a:spcPct val="150000"/>
              </a:lnSpc>
              <a:buFont typeface="Arial" panose="020B0604020202020204" pitchFamily="34" charset="0"/>
              <a:buChar char="•"/>
            </a:pPr>
            <a:r>
              <a:rPr lang="vi-VN" dirty="0">
                <a:solidFill>
                  <a:schemeClr val="tx2">
                    <a:lumMod val="75000"/>
                    <a:lumOff val="25000"/>
                  </a:schemeClr>
                </a:solidFill>
                <a:latin typeface="+mj-lt"/>
              </a:rPr>
              <a:t>  Thói quen sử dụng công nghệ thấp, khó khăn trong việc tiếp cận các thiết bị thông minh.</a:t>
            </a:r>
          </a:p>
          <a:p>
            <a:pPr algn="just">
              <a:lnSpc>
                <a:spcPct val="150000"/>
              </a:lnSpc>
              <a:buFont typeface="Arial" panose="020B0604020202020204" pitchFamily="34" charset="0"/>
              <a:buChar char="•"/>
            </a:pPr>
            <a:r>
              <a:rPr lang="vi-VN" dirty="0">
                <a:solidFill>
                  <a:schemeClr val="tx2">
                    <a:lumMod val="75000"/>
                    <a:lumOff val="25000"/>
                  </a:schemeClr>
                </a:solidFill>
                <a:latin typeface="+mj-lt"/>
              </a:rPr>
              <a:t>  Ưu tiên sử dụng tiếng Khmer trong giao tiếp hàng ngày.</a:t>
            </a:r>
          </a:p>
          <a:p>
            <a:pPr algn="just">
              <a:lnSpc>
                <a:spcPct val="150000"/>
              </a:lnSpc>
              <a:buFont typeface="Arial" panose="020B0604020202020204" pitchFamily="34" charset="0"/>
              <a:buChar char="•"/>
            </a:pPr>
            <a:r>
              <a:rPr lang="vi-VN" dirty="0">
                <a:solidFill>
                  <a:schemeClr val="tx2">
                    <a:lumMod val="75000"/>
                    <a:lumOff val="25000"/>
                  </a:schemeClr>
                </a:solidFill>
                <a:latin typeface="+mj-lt"/>
              </a:rPr>
              <a:t>  Có nhu cầu kết nối với cộng đồng, gia đình và tham gia các hoạt động văn hóa.</a:t>
            </a:r>
          </a:p>
        </p:txBody>
      </p:sp>
      <p:pic>
        <p:nvPicPr>
          <p:cNvPr id="17" name="Picture 16" descr="A magnifying glass and a clipboard&#10;&#10;Description automatically generated">
            <a:extLst>
              <a:ext uri="{FF2B5EF4-FFF2-40B4-BE49-F238E27FC236}">
                <a16:creationId xmlns:a16="http://schemas.microsoft.com/office/drawing/2014/main" id="{805A35D2-3791-B7C8-0B72-5AF2A2F9AB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9039" y="1887961"/>
            <a:ext cx="4022019" cy="4022019"/>
          </a:xfrm>
          <a:prstGeom prst="rect">
            <a:avLst/>
          </a:prstGeom>
        </p:spPr>
      </p:pic>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69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3</a:t>
            </a:r>
            <a:endParaRPr lang="en-US" b="1" dirty="0">
              <a:solidFill>
                <a:schemeClr val="accent2"/>
              </a:solidFill>
              <a:latin typeface="+mj-lt"/>
            </a:endParaRPr>
          </a:p>
        </p:txBody>
      </p:sp>
      <p:sp>
        <p:nvSpPr>
          <p:cNvPr id="4" name="TextBox 3">
            <a:extLst>
              <a:ext uri="{FF2B5EF4-FFF2-40B4-BE49-F238E27FC236}">
                <a16:creationId xmlns:a16="http://schemas.microsoft.com/office/drawing/2014/main" id="{CE879C45-83F1-E220-FD0A-935B57C539A2}"/>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CƠ SỞ LÝ THUYẾT</a:t>
            </a:r>
          </a:p>
        </p:txBody>
      </p:sp>
      <p:sp>
        <p:nvSpPr>
          <p:cNvPr id="6" name="TextBox 5">
            <a:extLst>
              <a:ext uri="{FF2B5EF4-FFF2-40B4-BE49-F238E27FC236}">
                <a16:creationId xmlns:a16="http://schemas.microsoft.com/office/drawing/2014/main" id="{B0F15FD3-05BB-2780-75F2-DA4914B9AD9B}"/>
              </a:ext>
            </a:extLst>
          </p:cNvPr>
          <p:cNvSpPr txBox="1"/>
          <p:nvPr/>
        </p:nvSpPr>
        <p:spPr>
          <a:xfrm>
            <a:off x="597310" y="1682376"/>
            <a:ext cx="6779342" cy="369332"/>
          </a:xfrm>
          <a:prstGeom prst="rect">
            <a:avLst/>
          </a:prstGeom>
          <a:noFill/>
        </p:spPr>
        <p:txBody>
          <a:bodyPr wrap="square">
            <a:spAutoFit/>
          </a:bodyPr>
          <a:lstStyle/>
          <a:p>
            <a:r>
              <a:rPr lang="vi-VN" sz="1800" b="1" dirty="0">
                <a:solidFill>
                  <a:schemeClr val="accent2"/>
                </a:solidFill>
                <a:latin typeface="+mj-lt"/>
              </a:rPr>
              <a:t>2.    Quy trình thiết kế lấy người dùng làm trung tâm</a:t>
            </a:r>
          </a:p>
        </p:txBody>
      </p:sp>
      <p:sp>
        <p:nvSpPr>
          <p:cNvPr id="8" name="TextBox 7">
            <a:extLst>
              <a:ext uri="{FF2B5EF4-FFF2-40B4-BE49-F238E27FC236}">
                <a16:creationId xmlns:a16="http://schemas.microsoft.com/office/drawing/2014/main" id="{380BEFBB-B47B-1DD9-CEA6-86DD6A4BB8AA}"/>
              </a:ext>
            </a:extLst>
          </p:cNvPr>
          <p:cNvSpPr txBox="1"/>
          <p:nvPr/>
        </p:nvSpPr>
        <p:spPr>
          <a:xfrm>
            <a:off x="591760" y="2148524"/>
            <a:ext cx="7593015" cy="4295407"/>
          </a:xfrm>
          <a:prstGeom prst="rect">
            <a:avLst/>
          </a:prstGeom>
          <a:noFill/>
        </p:spPr>
        <p:txBody>
          <a:bodyPr wrap="square">
            <a:spAutoFit/>
          </a:bodyPr>
          <a:lstStyle/>
          <a:p>
            <a:pPr marL="228600" marR="0" indent="228600" algn="just">
              <a:lnSpc>
                <a:spcPct val="150000"/>
              </a:lnSpc>
              <a:spcBef>
                <a:spcPts val="600"/>
              </a:spcBef>
              <a:spcAft>
                <a:spcPts val="600"/>
              </a:spcAft>
            </a:pPr>
            <a:r>
              <a:rPr lang="vi-VN" sz="1600" b="1" dirty="0">
                <a:solidFill>
                  <a:schemeClr val="tx2">
                    <a:lumMod val="75000"/>
                    <a:lumOff val="25000"/>
                  </a:schemeClr>
                </a:solidFill>
                <a:effectLst/>
                <a:latin typeface="Times New Roman" panose="02020603050405020304" pitchFamily="18" charset="0"/>
                <a:ea typeface="Times New Roman" panose="02020603050405020304" pitchFamily="18" charset="0"/>
              </a:rPr>
              <a:t>Giai đoạn 1: Empathize (Thấu hiểu)</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914400" algn="l"/>
              </a:tabLs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Thực hiện phỏng vấn và khảo sát để hiểu nhu cầu và khó khăn của người Khmer cao tuổi.</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914400" algn="l"/>
              </a:tabLs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Tổ chức các buổi quan sát để nắm bắt hành vi và thói quen sử dụng công nghệ trong cuộc sống hằng ngày.</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457200" marR="0" algn="just">
              <a:lnSpc>
                <a:spcPct val="150000"/>
              </a:lnSpc>
              <a:spcBef>
                <a:spcPts val="600"/>
              </a:spcBef>
              <a:spcAft>
                <a:spcPts val="600"/>
              </a:spcAf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 </a:t>
            </a:r>
            <a:r>
              <a:rPr lang="vi-VN" sz="1600" b="1" dirty="0">
                <a:solidFill>
                  <a:schemeClr val="tx2">
                    <a:lumMod val="75000"/>
                    <a:lumOff val="25000"/>
                  </a:schemeClr>
                </a:solidFill>
                <a:effectLst/>
                <a:latin typeface="Times New Roman" panose="02020603050405020304" pitchFamily="18" charset="0"/>
                <a:ea typeface="Times New Roman" panose="02020603050405020304" pitchFamily="18" charset="0"/>
              </a:rPr>
              <a:t>Giai đoạn 2: Define (Định nghĩa vấn đề)</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914400" algn="l"/>
              </a:tabLs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Phân tích dữ liệu thu thập được từ giai đoạn thấu hiểu.</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914400" algn="l"/>
              </a:tabLs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Xác định các vấn đề chính mà người cao tuổi gặp phải trong việc kết nối xã hội.</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0" marR="0" indent="457200" algn="just">
              <a:lnSpc>
                <a:spcPct val="150000"/>
              </a:lnSpc>
              <a:spcBef>
                <a:spcPts val="600"/>
              </a:spcBef>
              <a:spcAft>
                <a:spcPts val="600"/>
              </a:spcAft>
            </a:pPr>
            <a:r>
              <a:rPr lang="vi-VN" sz="1600" dirty="0">
                <a:solidFill>
                  <a:schemeClr val="tx2">
                    <a:lumMod val="75000"/>
                    <a:lumOff val="25000"/>
                  </a:schemeClr>
                </a:solidFill>
                <a:effectLst/>
                <a:latin typeface="Times New Roman" panose="02020603050405020304" pitchFamily="18" charset="0"/>
                <a:ea typeface="Times New Roman" panose="02020603050405020304" pitchFamily="18" charset="0"/>
              </a:rPr>
              <a:t> </a:t>
            </a:r>
            <a:endParaRPr lang="en-US" sz="16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p:txBody>
      </p:sp>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Picture 2" descr="A group of people working on a project&#10;&#10;Description automatically generated">
            <a:extLst>
              <a:ext uri="{FF2B5EF4-FFF2-40B4-BE49-F238E27FC236}">
                <a16:creationId xmlns:a16="http://schemas.microsoft.com/office/drawing/2014/main" id="{DBF5AFD6-CD86-F9E0-A749-59E1EFB06F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5684" y="2051708"/>
            <a:ext cx="5819775" cy="3895725"/>
          </a:xfrm>
          <a:prstGeom prst="rect">
            <a:avLst/>
          </a:prstGeom>
        </p:spPr>
      </p:pic>
    </p:spTree>
    <p:extLst>
      <p:ext uri="{BB962C8B-B14F-4D97-AF65-F5344CB8AC3E}">
        <p14:creationId xmlns:p14="http://schemas.microsoft.com/office/powerpoint/2010/main" val="3669590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7DF9-7E90-F017-44B1-0E8BFAD5FC4B}"/>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344FC9F5-44CD-CAC0-4021-0589C7788B8D}"/>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C7FFE15-13AA-3C43-40AA-DED0A2DEA48D}"/>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35916C88-897E-D6A9-617C-055557402BB8}"/>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4</a:t>
            </a:r>
            <a:endParaRPr lang="en-US" b="1" dirty="0">
              <a:solidFill>
                <a:schemeClr val="accent2"/>
              </a:solidFill>
              <a:latin typeface="+mj-lt"/>
            </a:endParaRPr>
          </a:p>
        </p:txBody>
      </p:sp>
      <p:sp>
        <p:nvSpPr>
          <p:cNvPr id="4" name="TextBox 3">
            <a:extLst>
              <a:ext uri="{FF2B5EF4-FFF2-40B4-BE49-F238E27FC236}">
                <a16:creationId xmlns:a16="http://schemas.microsoft.com/office/drawing/2014/main" id="{DED3140B-048E-3C0A-FE75-4983AC328A01}"/>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CƠ SỞ LÝ THUYẾT</a:t>
            </a:r>
          </a:p>
        </p:txBody>
      </p:sp>
      <p:sp>
        <p:nvSpPr>
          <p:cNvPr id="6" name="TextBox 5">
            <a:extLst>
              <a:ext uri="{FF2B5EF4-FFF2-40B4-BE49-F238E27FC236}">
                <a16:creationId xmlns:a16="http://schemas.microsoft.com/office/drawing/2014/main" id="{147F0E29-BAE1-3CDF-90D8-6AABBEB40A40}"/>
              </a:ext>
            </a:extLst>
          </p:cNvPr>
          <p:cNvSpPr txBox="1"/>
          <p:nvPr/>
        </p:nvSpPr>
        <p:spPr>
          <a:xfrm>
            <a:off x="597310" y="1682376"/>
            <a:ext cx="6779342" cy="369332"/>
          </a:xfrm>
          <a:prstGeom prst="rect">
            <a:avLst/>
          </a:prstGeom>
          <a:noFill/>
        </p:spPr>
        <p:txBody>
          <a:bodyPr wrap="square">
            <a:spAutoFit/>
          </a:bodyPr>
          <a:lstStyle/>
          <a:p>
            <a:r>
              <a:rPr lang="vi-VN" sz="1800" b="1" dirty="0">
                <a:solidFill>
                  <a:schemeClr val="accent2"/>
                </a:solidFill>
                <a:latin typeface="+mj-lt"/>
              </a:rPr>
              <a:t>2.    Quy trình thiết kế lấy người dùng làm trung tâm</a:t>
            </a:r>
          </a:p>
        </p:txBody>
      </p:sp>
      <p:sp>
        <p:nvSpPr>
          <p:cNvPr id="8" name="TextBox 7">
            <a:extLst>
              <a:ext uri="{FF2B5EF4-FFF2-40B4-BE49-F238E27FC236}">
                <a16:creationId xmlns:a16="http://schemas.microsoft.com/office/drawing/2014/main" id="{493289BE-DAA5-9E25-A024-2F2BFC71CB0B}"/>
              </a:ext>
            </a:extLst>
          </p:cNvPr>
          <p:cNvSpPr txBox="1"/>
          <p:nvPr/>
        </p:nvSpPr>
        <p:spPr>
          <a:xfrm>
            <a:off x="590417" y="1995898"/>
            <a:ext cx="10623087" cy="4193264"/>
          </a:xfrm>
          <a:prstGeom prst="rect">
            <a:avLst/>
          </a:prstGeom>
          <a:noFill/>
        </p:spPr>
        <p:txBody>
          <a:bodyPr wrap="square">
            <a:spAutoFit/>
          </a:bodyPr>
          <a:lstStyle/>
          <a:p>
            <a:pPr marL="0" marR="0" indent="457200" algn="just">
              <a:lnSpc>
                <a:spcPct val="150000"/>
              </a:lnSpc>
              <a:spcBef>
                <a:spcPts val="600"/>
              </a:spcBef>
              <a:spcAft>
                <a:spcPts val="600"/>
              </a:spcAft>
            </a:pPr>
            <a:r>
              <a:rPr lang="vi-VN" sz="1400" b="1" dirty="0">
                <a:solidFill>
                  <a:schemeClr val="tx2">
                    <a:lumMod val="75000"/>
                    <a:lumOff val="25000"/>
                  </a:schemeClr>
                </a:solidFill>
                <a:effectLst/>
                <a:latin typeface="Times New Roman" panose="02020603050405020304" pitchFamily="18" charset="0"/>
                <a:ea typeface="Times New Roman" panose="02020603050405020304" pitchFamily="18" charset="0"/>
              </a:rPr>
              <a:t>Giai đoạn 3: Ideate (Sáng tạo ý tưởng)</a:t>
            </a:r>
            <a:endParaRPr lang="en-US" sz="14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Font typeface="Symbol" panose="05050102010706020507" pitchFamily="18" charset="2"/>
              <a:buChar char=""/>
            </a:pPr>
            <a:r>
              <a:rPr lang="vi-VN" sz="1400" dirty="0">
                <a:solidFill>
                  <a:schemeClr val="tx2">
                    <a:lumMod val="75000"/>
                    <a:lumOff val="25000"/>
                  </a:schemeClr>
                </a:solidFill>
                <a:effectLst/>
                <a:latin typeface="Times New Roman" panose="02020603050405020304" pitchFamily="18" charset="0"/>
                <a:ea typeface="Times New Roman" panose="02020603050405020304" pitchFamily="18" charset="0"/>
              </a:rPr>
              <a:t>Phát triển và khai thác các ý tưởng sáng tạo nhằm giải quyết những vấn đề đã xác định từ giai đoạn 2.</a:t>
            </a:r>
            <a:endParaRPr lang="en-US" sz="14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0" marR="0" indent="228600" algn="just">
              <a:lnSpc>
                <a:spcPct val="150000"/>
              </a:lnSpc>
              <a:spcBef>
                <a:spcPts val="600"/>
              </a:spcBef>
              <a:spcAft>
                <a:spcPts val="600"/>
              </a:spcAft>
            </a:pPr>
            <a:r>
              <a:rPr lang="vi-VN" sz="1400" dirty="0">
                <a:solidFill>
                  <a:schemeClr val="tx2">
                    <a:lumMod val="75000"/>
                    <a:lumOff val="25000"/>
                  </a:schemeClr>
                </a:solidFill>
                <a:effectLst/>
                <a:latin typeface="Times New Roman" panose="02020603050405020304" pitchFamily="18" charset="0"/>
                <a:ea typeface="Times New Roman" panose="02020603050405020304" pitchFamily="18" charset="0"/>
              </a:rPr>
              <a:t>  </a:t>
            </a:r>
            <a:r>
              <a:rPr lang="vi-VN" sz="1400" b="1" dirty="0">
                <a:solidFill>
                  <a:schemeClr val="tx2">
                    <a:lumMod val="75000"/>
                    <a:lumOff val="25000"/>
                  </a:schemeClr>
                </a:solidFill>
                <a:effectLst/>
                <a:latin typeface="Times New Roman" panose="02020603050405020304" pitchFamily="18" charset="0"/>
                <a:ea typeface="Times New Roman" panose="02020603050405020304" pitchFamily="18" charset="0"/>
              </a:rPr>
              <a:t>Giai đoạn 4: Prototype (Tạo mẫu)</a:t>
            </a:r>
            <a:endParaRPr lang="en-US" sz="14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742950" marR="0" lvl="1" indent="-285750" algn="just">
              <a:lnSpc>
                <a:spcPct val="150000"/>
              </a:lnSpc>
              <a:spcBef>
                <a:spcPts val="600"/>
              </a:spcBef>
              <a:spcAft>
                <a:spcPts val="600"/>
              </a:spcAft>
              <a:buFont typeface="Symbol" panose="05050102010706020507" pitchFamily="18" charset="2"/>
              <a:buChar char=""/>
            </a:pPr>
            <a:r>
              <a:rPr lang="vi-VN" sz="1400" dirty="0">
                <a:solidFill>
                  <a:schemeClr val="tx2">
                    <a:lumMod val="75000"/>
                    <a:lumOff val="25000"/>
                  </a:schemeClr>
                </a:solidFill>
                <a:effectLst/>
                <a:latin typeface="Times New Roman" panose="02020603050405020304" pitchFamily="18" charset="0"/>
                <a:ea typeface="Times New Roman" panose="02020603050405020304" pitchFamily="18" charset="0"/>
              </a:rPr>
              <a:t>Sử dụng các công cụ vẽ hoặc phần mềm thiết kế để phát triển bản phác thảo giao diện người dùng (UI).</a:t>
            </a:r>
            <a:endParaRPr lang="en-US" sz="14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742950" marR="0" lvl="1" indent="-285750" algn="just">
              <a:lnSpc>
                <a:spcPct val="150000"/>
              </a:lnSpc>
              <a:spcBef>
                <a:spcPts val="600"/>
              </a:spcBef>
              <a:spcAft>
                <a:spcPts val="600"/>
              </a:spcAft>
              <a:buFont typeface="Symbol" panose="05050102010706020507" pitchFamily="18" charset="2"/>
              <a:buChar char=""/>
            </a:pPr>
            <a:r>
              <a:rPr lang="vi-VN" sz="1400" noProof="0" dirty="0">
                <a:solidFill>
                  <a:schemeClr val="tx2">
                    <a:lumMod val="75000"/>
                    <a:lumOff val="25000"/>
                  </a:schemeClr>
                </a:solidFill>
                <a:effectLst/>
                <a:latin typeface="Times New Roman" panose="02020603050405020304" pitchFamily="18" charset="0"/>
                <a:ea typeface="Times New Roman" panose="02020603050405020304" pitchFamily="18" charset="0"/>
              </a:rPr>
              <a:t>Tập trung vào bố cục, luồng người dùng, và các chức năng chính mà người dùng cần.</a:t>
            </a:r>
          </a:p>
          <a:p>
            <a:pPr marL="0" marR="0" indent="228600" algn="just">
              <a:lnSpc>
                <a:spcPct val="150000"/>
              </a:lnSpc>
              <a:spcBef>
                <a:spcPts val="600"/>
              </a:spcBef>
              <a:spcAft>
                <a:spcPts val="600"/>
              </a:spcAft>
            </a:pPr>
            <a:r>
              <a:rPr lang="vi-VN" sz="1400" b="1" noProof="0" dirty="0">
                <a:solidFill>
                  <a:schemeClr val="tx2">
                    <a:lumMod val="75000"/>
                    <a:lumOff val="25000"/>
                  </a:schemeClr>
                </a:solidFill>
                <a:effectLst/>
                <a:latin typeface="Times New Roman" panose="02020603050405020304" pitchFamily="18" charset="0"/>
                <a:ea typeface="Times New Roman" panose="02020603050405020304" pitchFamily="18" charset="0"/>
              </a:rPr>
              <a:t>Giai đoạn 5: Test (Kiểm tra)</a:t>
            </a:r>
            <a:endParaRPr lang="vi-VN" sz="1400" noProof="0" dirty="0">
              <a:solidFill>
                <a:schemeClr val="tx2">
                  <a:lumMod val="75000"/>
                  <a:lumOff val="25000"/>
                </a:schemeClr>
              </a:solidFill>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685800" algn="l"/>
              </a:tabLst>
            </a:pPr>
            <a:r>
              <a:rPr lang="vi-VN" sz="1400" noProof="0" dirty="0">
                <a:solidFill>
                  <a:schemeClr val="tx2">
                    <a:lumMod val="75000"/>
                    <a:lumOff val="25000"/>
                  </a:schemeClr>
                </a:solidFill>
                <a:effectLst/>
                <a:latin typeface="Times New Roman" panose="02020603050405020304" pitchFamily="18" charset="0"/>
                <a:ea typeface="Times New Roman" panose="02020603050405020304" pitchFamily="18" charset="0"/>
              </a:rPr>
              <a:t>Thu thập phản hồi từ người dùng về mẫu thấp.</a:t>
            </a:r>
          </a:p>
          <a:p>
            <a:pPr marL="800100" lvl="1" indent="-342900" algn="just">
              <a:lnSpc>
                <a:spcPct val="150000"/>
              </a:lnSpc>
              <a:spcBef>
                <a:spcPts val="600"/>
              </a:spcBef>
              <a:spcAft>
                <a:spcPts val="600"/>
              </a:spcAft>
              <a:buSzPts val="1000"/>
              <a:buFont typeface="Symbol" panose="05050102010706020507" pitchFamily="18" charset="2"/>
              <a:buChar char=""/>
              <a:tabLst>
                <a:tab pos="457200" algn="l"/>
                <a:tab pos="685800" algn="l"/>
              </a:tabLst>
            </a:pPr>
            <a:r>
              <a:rPr lang="vi-VN" sz="1400" noProof="0" dirty="0">
                <a:solidFill>
                  <a:schemeClr val="tx2">
                    <a:lumMod val="75000"/>
                    <a:lumOff val="25000"/>
                  </a:schemeClr>
                </a:solidFill>
                <a:effectLst/>
                <a:latin typeface="Times New Roman" panose="02020603050405020304" pitchFamily="18" charset="0"/>
                <a:ea typeface="Times New Roman" panose="02020603050405020304" pitchFamily="18" charset="0"/>
              </a:rPr>
              <a:t>Dựa vào phản hồi để cải tiến thiết kế.</a:t>
            </a:r>
          </a:p>
          <a:p>
            <a:pPr marL="800100" lvl="1" indent="-342900" algn="just">
              <a:lnSpc>
                <a:spcPct val="150000"/>
              </a:lnSpc>
              <a:spcBef>
                <a:spcPts val="600"/>
              </a:spcBef>
              <a:spcAft>
                <a:spcPts val="600"/>
              </a:spcAft>
              <a:buSzPts val="1000"/>
              <a:buFont typeface="Symbol" panose="05050102010706020507" pitchFamily="18" charset="2"/>
              <a:buChar char=""/>
              <a:tabLst>
                <a:tab pos="685800" algn="l"/>
              </a:tabLst>
            </a:pPr>
            <a:r>
              <a:rPr lang="vi-VN" sz="1400" dirty="0">
                <a:solidFill>
                  <a:schemeClr val="tx2">
                    <a:lumMod val="75000"/>
                    <a:lumOff val="25000"/>
                  </a:schemeClr>
                </a:solidFill>
                <a:effectLst/>
                <a:latin typeface="Times New Roman" panose="02020603050405020304" pitchFamily="18" charset="0"/>
                <a:ea typeface="Times New Roman" panose="02020603050405020304" pitchFamily="18" charset="0"/>
              </a:rPr>
              <a:t>Tiến hành thử nghiệm với người dùng để nhận phản hồi.</a:t>
            </a:r>
            <a:endParaRPr lang="en-US" sz="1400" dirty="0">
              <a:solidFill>
                <a:schemeClr val="tx2">
                  <a:lumMod val="75000"/>
                  <a:lumOff val="25000"/>
                </a:schemeClr>
              </a:solidFill>
              <a:effectLst/>
              <a:latin typeface="Times New Roman" panose="02020603050405020304" pitchFamily="18" charset="0"/>
              <a:ea typeface="Times New Roman" panose="02020603050405020304" pitchFamily="18" charset="0"/>
            </a:endParaRPr>
          </a:p>
        </p:txBody>
      </p:sp>
      <p:cxnSp>
        <p:nvCxnSpPr>
          <p:cNvPr id="19" name="Straight Connector 18">
            <a:extLst>
              <a:ext uri="{FF2B5EF4-FFF2-40B4-BE49-F238E27FC236}">
                <a16:creationId xmlns:a16="http://schemas.microsoft.com/office/drawing/2014/main" id="{B73E9522-576C-6DCC-E6B9-7E260257FE49}"/>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3" name="Picture 2" descr="A group of people working on a project&#10;&#10;Description automatically generated">
            <a:extLst>
              <a:ext uri="{FF2B5EF4-FFF2-40B4-BE49-F238E27FC236}">
                <a16:creationId xmlns:a16="http://schemas.microsoft.com/office/drawing/2014/main" id="{FD9F0908-6F52-ECA0-7B2A-D80B7420A9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0452" y="2358726"/>
            <a:ext cx="5376020" cy="3598678"/>
          </a:xfrm>
          <a:prstGeom prst="rect">
            <a:avLst/>
          </a:prstGeom>
        </p:spPr>
      </p:pic>
    </p:spTree>
    <p:extLst>
      <p:ext uri="{BB962C8B-B14F-4D97-AF65-F5344CB8AC3E}">
        <p14:creationId xmlns:p14="http://schemas.microsoft.com/office/powerpoint/2010/main" val="238251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sp>
        <p:nvSpPr>
          <p:cNvPr id="3" name="TextBox 2">
            <a:extLst>
              <a:ext uri="{FF2B5EF4-FFF2-40B4-BE49-F238E27FC236}">
                <a16:creationId xmlns:a16="http://schemas.microsoft.com/office/drawing/2014/main" id="{C8CBAD7C-5B65-A778-5D3F-1B83EBA11269}"/>
              </a:ext>
            </a:extLst>
          </p:cNvPr>
          <p:cNvSpPr txBox="1"/>
          <p:nvPr/>
        </p:nvSpPr>
        <p:spPr>
          <a:xfrm>
            <a:off x="2679290" y="1961538"/>
            <a:ext cx="6833420" cy="1754326"/>
          </a:xfrm>
          <a:prstGeom prst="rect">
            <a:avLst/>
          </a:prstGeom>
          <a:noFill/>
        </p:spPr>
        <p:txBody>
          <a:bodyPr wrap="square" rtlCol="0">
            <a:spAutoFit/>
          </a:bodyPr>
          <a:lstStyle/>
          <a:p>
            <a:pPr algn="ctr"/>
            <a:r>
              <a:rPr lang="vi-VN" sz="5400" b="1" dirty="0">
                <a:solidFill>
                  <a:schemeClr val="accent2"/>
                </a:solidFill>
                <a:latin typeface="+mj-lt"/>
              </a:rPr>
              <a:t>2. PHÂN TÍCH YÊU CẦU</a:t>
            </a:r>
            <a:endParaRPr lang="en-US" sz="5400" b="1" dirty="0">
              <a:solidFill>
                <a:schemeClr val="accent2"/>
              </a:solidFill>
              <a:latin typeface="+mj-lt"/>
            </a:endParaRPr>
          </a:p>
        </p:txBody>
      </p:sp>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5</a:t>
            </a:r>
            <a:endParaRPr lang="en-US" b="1" dirty="0">
              <a:solidFill>
                <a:schemeClr val="accent2"/>
              </a:solidFill>
              <a:latin typeface="+mj-lt"/>
            </a:endParaRPr>
          </a:p>
        </p:txBody>
      </p:sp>
      <p:cxnSp>
        <p:nvCxnSpPr>
          <p:cNvPr id="2" name="Straight Connector 1">
            <a:extLst>
              <a:ext uri="{FF2B5EF4-FFF2-40B4-BE49-F238E27FC236}">
                <a16:creationId xmlns:a16="http://schemas.microsoft.com/office/drawing/2014/main" id="{AA2D4D8C-D0AA-7A3E-7BBA-F2EA9A0A054B}"/>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10">
            <a:extLst>
              <a:ext uri="{FF2B5EF4-FFF2-40B4-BE49-F238E27FC236}">
                <a16:creationId xmlns:a16="http://schemas.microsoft.com/office/drawing/2014/main" id="{A157F37A-C76C-4075-B2CB-45BA93C7D0C8}"/>
              </a:ext>
            </a:extLst>
          </p:cNvPr>
          <p:cNvPicPr>
            <a:picLocks noChangeAspect="1"/>
          </p:cNvPicPr>
          <p:nvPr/>
        </p:nvPicPr>
        <p:blipFill>
          <a:blip r:embed="rId5"/>
          <a:srcRect/>
          <a:stretch>
            <a:fillRect/>
          </a:stretch>
        </p:blipFill>
        <p:spPr>
          <a:xfrm>
            <a:off x="9922505" y="4650677"/>
            <a:ext cx="2269495" cy="1506613"/>
          </a:xfrm>
          <a:prstGeom prst="rect">
            <a:avLst/>
          </a:prstGeom>
        </p:spPr>
      </p:pic>
    </p:spTree>
    <p:extLst>
      <p:ext uri="{BB962C8B-B14F-4D97-AF65-F5344CB8AC3E}">
        <p14:creationId xmlns:p14="http://schemas.microsoft.com/office/powerpoint/2010/main" val="1610904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6</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00BB5DE8-7634-F27E-6455-BCD105B90B04}"/>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8AA5017-35D3-AEDE-AE1E-0B943731FD0E}"/>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PHÂN TÍCH YÊU CẦU</a:t>
            </a:r>
          </a:p>
        </p:txBody>
      </p:sp>
      <p:sp>
        <p:nvSpPr>
          <p:cNvPr id="3" name="TextBox 2">
            <a:extLst>
              <a:ext uri="{FF2B5EF4-FFF2-40B4-BE49-F238E27FC236}">
                <a16:creationId xmlns:a16="http://schemas.microsoft.com/office/drawing/2014/main" id="{D9663209-C2CD-A84F-D274-E852C7FC8C51}"/>
              </a:ext>
            </a:extLst>
          </p:cNvPr>
          <p:cNvSpPr txBox="1"/>
          <p:nvPr/>
        </p:nvSpPr>
        <p:spPr>
          <a:xfrm>
            <a:off x="597310" y="1682376"/>
            <a:ext cx="6779342" cy="369332"/>
          </a:xfrm>
          <a:prstGeom prst="rect">
            <a:avLst/>
          </a:prstGeom>
          <a:noFill/>
        </p:spPr>
        <p:txBody>
          <a:bodyPr wrap="square">
            <a:spAutoFit/>
          </a:bodyPr>
          <a:lstStyle/>
          <a:p>
            <a:pPr marL="342900" indent="-342900">
              <a:buAutoNum type="arabicPeriod"/>
            </a:pPr>
            <a:r>
              <a:rPr lang="vi-VN" sz="1800" b="1" dirty="0">
                <a:solidFill>
                  <a:schemeClr val="accent2"/>
                </a:solidFill>
                <a:latin typeface="+mj-lt"/>
              </a:rPr>
              <a:t>Nhu cầu của người dùng:</a:t>
            </a:r>
          </a:p>
        </p:txBody>
      </p:sp>
      <p:sp>
        <p:nvSpPr>
          <p:cNvPr id="4" name="TextBox 3">
            <a:extLst>
              <a:ext uri="{FF2B5EF4-FFF2-40B4-BE49-F238E27FC236}">
                <a16:creationId xmlns:a16="http://schemas.microsoft.com/office/drawing/2014/main" id="{815DA1AE-BD36-4974-38C8-201E9266F082}"/>
              </a:ext>
            </a:extLst>
          </p:cNvPr>
          <p:cNvSpPr txBox="1"/>
          <p:nvPr/>
        </p:nvSpPr>
        <p:spPr>
          <a:xfrm>
            <a:off x="983081" y="2081461"/>
            <a:ext cx="10518637" cy="1289071"/>
          </a:xfrm>
          <a:prstGeom prst="rect">
            <a:avLst/>
          </a:prstGeom>
          <a:noFill/>
        </p:spPr>
        <p:txBody>
          <a:bodyPr wrap="square">
            <a:spAutoFit/>
          </a:bodyPr>
          <a:lstStyle/>
          <a:p>
            <a:pPr algn="just">
              <a:lnSpc>
                <a:spcPct val="150000"/>
              </a:lnSpc>
              <a:buFont typeface="Arial" panose="020B0604020202020204" pitchFamily="34" charset="0"/>
              <a:buChar char="•"/>
            </a:pPr>
            <a:r>
              <a:rPr lang="vi-VN" b="1" dirty="0">
                <a:solidFill>
                  <a:schemeClr val="tx2">
                    <a:lumMod val="75000"/>
                    <a:lumOff val="25000"/>
                  </a:schemeClr>
                </a:solidFill>
                <a:latin typeface="+mj-lt"/>
              </a:rPr>
              <a:t> Giao diện đơn giản, dễ sử dụng:</a:t>
            </a:r>
          </a:p>
          <a:p>
            <a:pPr lvl="1" algn="just">
              <a:lnSpc>
                <a:spcPct val="150000"/>
              </a:lnSpc>
              <a:buFont typeface="Arial" panose="020B0604020202020204" pitchFamily="34" charset="0"/>
              <a:buChar char="•"/>
            </a:pPr>
            <a:r>
              <a:rPr lang="vi-VN" dirty="0">
                <a:solidFill>
                  <a:schemeClr val="tx2">
                    <a:lumMod val="75000"/>
                    <a:lumOff val="25000"/>
                  </a:schemeClr>
                </a:solidFill>
                <a:latin typeface="+mj-lt"/>
              </a:rPr>
              <a:t> Người dùng lớn tuổi thường gặp khó khăn với các giao diện phức tạp, nên cần một giao diện tối giản, dễ nhìn và dễ thao tác.</a:t>
            </a:r>
          </a:p>
        </p:txBody>
      </p:sp>
      <p:sp>
        <p:nvSpPr>
          <p:cNvPr id="8" name="TextBox 7">
            <a:extLst>
              <a:ext uri="{FF2B5EF4-FFF2-40B4-BE49-F238E27FC236}">
                <a16:creationId xmlns:a16="http://schemas.microsoft.com/office/drawing/2014/main" id="{1D9751AD-C51D-5AFE-60B0-E1BDEFFB5029}"/>
              </a:ext>
            </a:extLst>
          </p:cNvPr>
          <p:cNvSpPr txBox="1"/>
          <p:nvPr/>
        </p:nvSpPr>
        <p:spPr>
          <a:xfrm>
            <a:off x="983081" y="3351133"/>
            <a:ext cx="10518637" cy="128907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Ngôn ngữ hỗ trợ tiếng Khmer:</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Vì người Khmer chủ yếu sử dụng tiếng Khmer, việc hỗ trợ ngôn ngữ này là yếu tố quan trọng để người dùng có thể dễ dàng giao tiếp và hiểu ứng dụng.</a:t>
            </a:r>
          </a:p>
        </p:txBody>
      </p:sp>
      <p:sp>
        <p:nvSpPr>
          <p:cNvPr id="11" name="TextBox 10">
            <a:extLst>
              <a:ext uri="{FF2B5EF4-FFF2-40B4-BE49-F238E27FC236}">
                <a16:creationId xmlns:a16="http://schemas.microsoft.com/office/drawing/2014/main" id="{6661372D-7D74-5E21-5786-0D6A0A8FFAF7}"/>
              </a:ext>
            </a:extLst>
          </p:cNvPr>
          <p:cNvSpPr txBox="1"/>
          <p:nvPr/>
        </p:nvSpPr>
        <p:spPr>
          <a:xfrm>
            <a:off x="983080" y="4647022"/>
            <a:ext cx="7318237" cy="128907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Tính năng kết nối bạn bè, gia đình:</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Kết nối xã hội là một trong những yếu tố quan trọng đối với người lớn tuổi, giúp họ duy trì sự gắn kết với người thân và cộng đồng.</a:t>
            </a:r>
          </a:p>
        </p:txBody>
      </p:sp>
      <p:pic>
        <p:nvPicPr>
          <p:cNvPr id="16" name="Picture 15" descr="A group of people working on a clock&#10;&#10;Description automatically generated">
            <a:extLst>
              <a:ext uri="{FF2B5EF4-FFF2-40B4-BE49-F238E27FC236}">
                <a16:creationId xmlns:a16="http://schemas.microsoft.com/office/drawing/2014/main" id="{C0DA64CB-3656-CB7E-B6DD-6F281DD17E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3123" y="4380916"/>
            <a:ext cx="2031592" cy="2035663"/>
          </a:xfrm>
          <a:prstGeom prst="rect">
            <a:avLst/>
          </a:prstGeom>
        </p:spPr>
      </p:pic>
    </p:spTree>
    <p:extLst>
      <p:ext uri="{BB962C8B-B14F-4D97-AF65-F5344CB8AC3E}">
        <p14:creationId xmlns:p14="http://schemas.microsoft.com/office/powerpoint/2010/main" val="397401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91DD-E2E1-1819-C285-F9EC76C4995E}"/>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5CB9E4A4-22E3-89FD-84AF-1769944AE1A2}"/>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B5AA921E-2534-3D14-E0F6-B7ED92368E55}"/>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1928D362-047F-C4B8-0CD2-5A8360B628E1}"/>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7</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F5B59536-9885-8C21-8BA7-32D83D046980}"/>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04E94354-97E5-4C3D-953F-26A906C9587E}"/>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44F8F73-E7FC-42A1-1C41-8598F7AD7C9D}"/>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PHÂN TÍCH YÊU CẦU</a:t>
            </a:r>
          </a:p>
        </p:txBody>
      </p:sp>
      <p:sp>
        <p:nvSpPr>
          <p:cNvPr id="3" name="TextBox 2">
            <a:extLst>
              <a:ext uri="{FF2B5EF4-FFF2-40B4-BE49-F238E27FC236}">
                <a16:creationId xmlns:a16="http://schemas.microsoft.com/office/drawing/2014/main" id="{2837252F-7554-C1FE-9C2D-4EF8BDAA278B}"/>
              </a:ext>
            </a:extLst>
          </p:cNvPr>
          <p:cNvSpPr txBox="1"/>
          <p:nvPr/>
        </p:nvSpPr>
        <p:spPr>
          <a:xfrm>
            <a:off x="597310" y="1682376"/>
            <a:ext cx="6779342" cy="369332"/>
          </a:xfrm>
          <a:prstGeom prst="rect">
            <a:avLst/>
          </a:prstGeom>
          <a:noFill/>
        </p:spPr>
        <p:txBody>
          <a:bodyPr wrap="square">
            <a:spAutoFit/>
          </a:bodyPr>
          <a:lstStyle/>
          <a:p>
            <a:r>
              <a:rPr lang="vi-VN" sz="1800" b="1" dirty="0">
                <a:solidFill>
                  <a:schemeClr val="accent2"/>
                </a:solidFill>
                <a:latin typeface="+mj-lt"/>
              </a:rPr>
              <a:t>2.    Tính năng chính của app:</a:t>
            </a:r>
          </a:p>
        </p:txBody>
      </p:sp>
      <p:sp>
        <p:nvSpPr>
          <p:cNvPr id="4" name="TextBox 3">
            <a:extLst>
              <a:ext uri="{FF2B5EF4-FFF2-40B4-BE49-F238E27FC236}">
                <a16:creationId xmlns:a16="http://schemas.microsoft.com/office/drawing/2014/main" id="{F3898B46-49D3-8D24-03EF-B68D15545664}"/>
              </a:ext>
            </a:extLst>
          </p:cNvPr>
          <p:cNvSpPr txBox="1"/>
          <p:nvPr/>
        </p:nvSpPr>
        <p:spPr>
          <a:xfrm>
            <a:off x="983081" y="2081461"/>
            <a:ext cx="10518637" cy="873572"/>
          </a:xfrm>
          <a:prstGeom prst="rect">
            <a:avLst/>
          </a:prstGeom>
          <a:noFill/>
        </p:spPr>
        <p:txBody>
          <a:bodyPr wrap="square">
            <a:spAutoFit/>
          </a:bodyPr>
          <a:lstStyle/>
          <a:p>
            <a:pPr algn="just">
              <a:lnSpc>
                <a:spcPct val="150000"/>
              </a:lnSpc>
              <a:buFont typeface="Arial" panose="020B0604020202020204" pitchFamily="34" charset="0"/>
              <a:buChar char="•"/>
            </a:pPr>
            <a:r>
              <a:rPr lang="vi-VN" b="1" dirty="0">
                <a:solidFill>
                  <a:schemeClr val="tx2">
                    <a:lumMod val="75000"/>
                    <a:lumOff val="25000"/>
                  </a:schemeClr>
                </a:solidFill>
                <a:latin typeface="+mj-lt"/>
              </a:rPr>
              <a:t> Kết bạn, nhắn tin:</a:t>
            </a:r>
          </a:p>
          <a:p>
            <a:pPr lvl="1" algn="just">
              <a:lnSpc>
                <a:spcPct val="150000"/>
              </a:lnSpc>
              <a:buFont typeface="Arial" panose="020B0604020202020204" pitchFamily="34" charset="0"/>
              <a:buChar char="•"/>
            </a:pPr>
            <a:r>
              <a:rPr lang="vi-VN" b="1" dirty="0">
                <a:solidFill>
                  <a:schemeClr val="tx2">
                    <a:lumMod val="75000"/>
                    <a:lumOff val="25000"/>
                  </a:schemeClr>
                </a:solidFill>
                <a:latin typeface="+mj-lt"/>
              </a:rPr>
              <a:t> </a:t>
            </a:r>
            <a:r>
              <a:rPr lang="vi-VN" dirty="0">
                <a:solidFill>
                  <a:schemeClr val="tx2">
                    <a:lumMod val="75000"/>
                    <a:lumOff val="25000"/>
                  </a:schemeClr>
                </a:solidFill>
                <a:latin typeface="+mj-lt"/>
              </a:rPr>
              <a:t>Tính năng này giúp người dùng giao tiếp trực tiếp với bạn bè, gia đình một cách dễ dàng.</a:t>
            </a:r>
          </a:p>
        </p:txBody>
      </p:sp>
      <p:sp>
        <p:nvSpPr>
          <p:cNvPr id="8" name="TextBox 7">
            <a:extLst>
              <a:ext uri="{FF2B5EF4-FFF2-40B4-BE49-F238E27FC236}">
                <a16:creationId xmlns:a16="http://schemas.microsoft.com/office/drawing/2014/main" id="{5B94A677-E4BC-A919-9C70-93EC88DFB584}"/>
              </a:ext>
            </a:extLst>
          </p:cNvPr>
          <p:cNvSpPr txBox="1"/>
          <p:nvPr/>
        </p:nvSpPr>
        <p:spPr>
          <a:xfrm>
            <a:off x="983080" y="3058013"/>
            <a:ext cx="10518637" cy="128907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Chia sẻ hình ảnh, video:</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a:t>
            </a:r>
            <a:r>
              <a:rPr lang="vi-VN" dirty="0">
                <a:solidFill>
                  <a:schemeClr val="tx2">
                    <a:lumMod val="75000"/>
                    <a:lumOff val="25000"/>
                  </a:schemeClr>
                </a:solidFill>
                <a:latin typeface="+mj-lt"/>
              </a:rPr>
              <a:t>Người dùng có thể chia sẻ khoảnh khắc đáng nhớ với gia đình và bạn bè, giúp kết nối cảm xúc và giảm cảm giác cô đơn.</a:t>
            </a:r>
          </a:p>
        </p:txBody>
      </p:sp>
      <p:sp>
        <p:nvSpPr>
          <p:cNvPr id="11" name="TextBox 10">
            <a:extLst>
              <a:ext uri="{FF2B5EF4-FFF2-40B4-BE49-F238E27FC236}">
                <a16:creationId xmlns:a16="http://schemas.microsoft.com/office/drawing/2014/main" id="{0AA33D7B-AC56-4FCB-B198-ABDFF907036E}"/>
              </a:ext>
            </a:extLst>
          </p:cNvPr>
          <p:cNvSpPr txBox="1"/>
          <p:nvPr/>
        </p:nvSpPr>
        <p:spPr>
          <a:xfrm>
            <a:off x="983080" y="4347084"/>
            <a:ext cx="6840070" cy="1704569"/>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Thông báo sự kiện cộng đồng:</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Cập nhật thông tin về các sự kiện cộng đồng hoặc văn hóa giúp người dùng tham gia các hoạt động xã hội và duy trì kết nối với cộng đồng.</a:t>
            </a:r>
          </a:p>
        </p:txBody>
      </p:sp>
      <p:pic>
        <p:nvPicPr>
          <p:cNvPr id="6" name="Picture 5" descr="A group of people standing around a clipboard">
            <a:extLst>
              <a:ext uri="{FF2B5EF4-FFF2-40B4-BE49-F238E27FC236}">
                <a16:creationId xmlns:a16="http://schemas.microsoft.com/office/drawing/2014/main" id="{66B87E2C-F8FF-BCF6-03B2-39F8C76799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3982" y="4132729"/>
            <a:ext cx="3327798" cy="2078119"/>
          </a:xfrm>
          <a:prstGeom prst="rect">
            <a:avLst/>
          </a:prstGeom>
        </p:spPr>
      </p:pic>
    </p:spTree>
    <p:extLst>
      <p:ext uri="{BB962C8B-B14F-4D97-AF65-F5344CB8AC3E}">
        <p14:creationId xmlns:p14="http://schemas.microsoft.com/office/powerpoint/2010/main" val="149497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E640E-55EC-FBA1-DBD0-03BA2556B3AD}"/>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6A7E4473-15E2-AF3F-DCA5-6B3522D615E1}"/>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AF73EF16-F53C-11C1-2C63-A395A74B1E09}"/>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5C3953A1-4E2A-B4A6-747A-D56C75E92605}"/>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8</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F0C7D7D9-D962-CF92-2316-8C948C4656DF}"/>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F9951B88-56F9-009D-A203-08AA9ECA517F}"/>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D008E6-CD99-D925-DB48-FA5A479C3306}"/>
              </a:ext>
            </a:extLst>
          </p:cNvPr>
          <p:cNvSpPr txBox="1"/>
          <p:nvPr/>
        </p:nvSpPr>
        <p:spPr>
          <a:xfrm>
            <a:off x="2854782" y="2551837"/>
            <a:ext cx="6482436" cy="1754326"/>
          </a:xfrm>
          <a:prstGeom prst="rect">
            <a:avLst/>
          </a:prstGeom>
          <a:noFill/>
        </p:spPr>
        <p:txBody>
          <a:bodyPr wrap="square">
            <a:spAutoFit/>
          </a:bodyPr>
          <a:lstStyle/>
          <a:p>
            <a:pPr algn="ctr"/>
            <a:r>
              <a:rPr lang="vi-VN" sz="5400" b="1" dirty="0">
                <a:solidFill>
                  <a:schemeClr val="accent2"/>
                </a:solidFill>
                <a:latin typeface="+mj-lt"/>
              </a:rPr>
              <a:t>3. QUY TRÌNH PHÁT TRIỂN</a:t>
            </a:r>
            <a:endParaRPr lang="en-US" sz="5400" b="1" dirty="0">
              <a:solidFill>
                <a:schemeClr val="accent2"/>
              </a:solidFill>
              <a:latin typeface="+mj-lt"/>
            </a:endParaRPr>
          </a:p>
        </p:txBody>
      </p:sp>
    </p:spTree>
    <p:extLst>
      <p:ext uri="{BB962C8B-B14F-4D97-AF65-F5344CB8AC3E}">
        <p14:creationId xmlns:p14="http://schemas.microsoft.com/office/powerpoint/2010/main" val="3865532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811E-FB6B-0BAD-D1DA-76C5D4295D9E}"/>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FE8D4913-E06E-FC2C-A3A6-3E0670B64A45}"/>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23342426-0399-1525-08A6-1C2AF332FE30}"/>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808C94AA-BE1D-F1E7-8B59-857E6E8A5B8E}"/>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9</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F0CAC0BE-76B7-BA69-F958-E18ED30DDA81}"/>
              </a:ext>
            </a:extLst>
          </p:cNvPr>
          <p:cNvCxnSpPr/>
          <p:nvPr/>
        </p:nvCxnSpPr>
        <p:spPr>
          <a:xfrm>
            <a:off x="0" y="6264866"/>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43D74C84-7304-F55C-0CC9-9BE4FE1897E5}"/>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6308A7E-4D2C-E836-33FF-33498604E423}"/>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QUY TRÌNH PHÁT TRIỂN</a:t>
            </a:r>
          </a:p>
        </p:txBody>
      </p:sp>
      <p:sp>
        <p:nvSpPr>
          <p:cNvPr id="3" name="TextBox 2">
            <a:extLst>
              <a:ext uri="{FF2B5EF4-FFF2-40B4-BE49-F238E27FC236}">
                <a16:creationId xmlns:a16="http://schemas.microsoft.com/office/drawing/2014/main" id="{10FD4EC2-0C5F-0CCE-10E1-DA717BE54F17}"/>
              </a:ext>
            </a:extLst>
          </p:cNvPr>
          <p:cNvSpPr txBox="1"/>
          <p:nvPr/>
        </p:nvSpPr>
        <p:spPr>
          <a:xfrm>
            <a:off x="597310" y="1682376"/>
            <a:ext cx="6779342" cy="369332"/>
          </a:xfrm>
          <a:prstGeom prst="rect">
            <a:avLst/>
          </a:prstGeom>
          <a:noFill/>
        </p:spPr>
        <p:txBody>
          <a:bodyPr wrap="square">
            <a:spAutoFit/>
          </a:bodyPr>
          <a:lstStyle/>
          <a:p>
            <a:pPr marL="342900" indent="-342900">
              <a:buAutoNum type="arabicPeriod"/>
            </a:pPr>
            <a:r>
              <a:rPr lang="vi-VN" sz="1800" b="1" dirty="0">
                <a:solidFill>
                  <a:schemeClr val="accent2"/>
                </a:solidFill>
                <a:latin typeface="+mj-lt"/>
              </a:rPr>
              <a:t> Các giai đoạn phát triển:</a:t>
            </a:r>
          </a:p>
        </p:txBody>
      </p:sp>
      <p:sp>
        <p:nvSpPr>
          <p:cNvPr id="4" name="TextBox 3">
            <a:extLst>
              <a:ext uri="{FF2B5EF4-FFF2-40B4-BE49-F238E27FC236}">
                <a16:creationId xmlns:a16="http://schemas.microsoft.com/office/drawing/2014/main" id="{E89C48F7-12DF-2FC2-87A7-0A46B3489CA3}"/>
              </a:ext>
            </a:extLst>
          </p:cNvPr>
          <p:cNvSpPr txBox="1"/>
          <p:nvPr/>
        </p:nvSpPr>
        <p:spPr>
          <a:xfrm>
            <a:off x="983081" y="2081461"/>
            <a:ext cx="10518637"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b="1" dirty="0">
                <a:solidFill>
                  <a:schemeClr val="tx2">
                    <a:lumMod val="75000"/>
                    <a:lumOff val="25000"/>
                  </a:schemeClr>
                </a:solidFill>
                <a:latin typeface="+mj-lt"/>
              </a:rPr>
              <a:t>Khảo sát người dùng:</a:t>
            </a:r>
            <a:endParaRPr lang="vi-VN" dirty="0">
              <a:solidFill>
                <a:schemeClr val="tx2">
                  <a:lumMod val="75000"/>
                  <a:lumOff val="25000"/>
                </a:schemeClr>
              </a:solidFill>
              <a:latin typeface="+mj-lt"/>
            </a:endParaRP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Mục đích:</a:t>
            </a:r>
            <a:r>
              <a:rPr lang="vi-VN" dirty="0">
                <a:solidFill>
                  <a:schemeClr val="tx2">
                    <a:lumMod val="75000"/>
                    <a:lumOff val="25000"/>
                  </a:schemeClr>
                </a:solidFill>
                <a:latin typeface="+mj-lt"/>
              </a:rPr>
              <a:t> Thu thập thông tin về nhu cầu và thói quen sử dụng công nghệ của người Khmer cao tuổi.</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Cách thực hiện:</a:t>
            </a:r>
            <a:r>
              <a:rPr lang="vi-VN" dirty="0">
                <a:solidFill>
                  <a:schemeClr val="tx2">
                    <a:lumMod val="75000"/>
                    <a:lumOff val="25000"/>
                  </a:schemeClr>
                </a:solidFill>
                <a:latin typeface="+mj-lt"/>
              </a:rPr>
              <a:t> Phỏng vấn, khảo sát trực tiếp người dùng tiềm năng, tìm hiểu các vấn đề họ gặp phải trong việc kết nối xã hội.</a:t>
            </a:r>
          </a:p>
        </p:txBody>
      </p:sp>
      <p:sp>
        <p:nvSpPr>
          <p:cNvPr id="8" name="TextBox 7">
            <a:extLst>
              <a:ext uri="{FF2B5EF4-FFF2-40B4-BE49-F238E27FC236}">
                <a16:creationId xmlns:a16="http://schemas.microsoft.com/office/drawing/2014/main" id="{0923EEB7-40FC-83D0-9445-9A6945975E68}"/>
              </a:ext>
            </a:extLst>
          </p:cNvPr>
          <p:cNvSpPr txBox="1"/>
          <p:nvPr/>
        </p:nvSpPr>
        <p:spPr>
          <a:xfrm>
            <a:off x="983080" y="3684405"/>
            <a:ext cx="10518637"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b="1" dirty="0">
                <a:solidFill>
                  <a:schemeClr val="tx2">
                    <a:lumMod val="75000"/>
                    <a:lumOff val="25000"/>
                  </a:schemeClr>
                </a:solidFill>
                <a:latin typeface="+mj-lt"/>
              </a:rPr>
              <a:t>Thiết kế UI/UX:</a:t>
            </a:r>
            <a:endParaRPr lang="vi-VN" dirty="0">
              <a:solidFill>
                <a:schemeClr val="tx2">
                  <a:lumMod val="75000"/>
                  <a:lumOff val="25000"/>
                </a:schemeClr>
              </a:solidFill>
              <a:latin typeface="+mj-lt"/>
            </a:endParaRP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Mục đích:</a:t>
            </a:r>
            <a:r>
              <a:rPr lang="vi-VN" dirty="0">
                <a:solidFill>
                  <a:schemeClr val="tx2">
                    <a:lumMod val="75000"/>
                    <a:lumOff val="25000"/>
                  </a:schemeClr>
                </a:solidFill>
                <a:latin typeface="+mj-lt"/>
              </a:rPr>
              <a:t> Xây dựng giao diện người dùng đơn giản và dễ sử dụng, phù hợp với đặc điểm người lớn tuổi.</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Cách thực hiện:</a:t>
            </a:r>
            <a:r>
              <a:rPr lang="vi-VN" dirty="0">
                <a:solidFill>
                  <a:schemeClr val="tx2">
                    <a:lumMod val="75000"/>
                    <a:lumOff val="25000"/>
                  </a:schemeClr>
                </a:solidFill>
                <a:latin typeface="+mj-lt"/>
              </a:rPr>
              <a:t> Lựa chọn màu sắc, font chữ dễ đọc, thiết kế các icon rõ ràng và dễ hiểu.</a:t>
            </a:r>
          </a:p>
        </p:txBody>
      </p:sp>
      <p:sp>
        <p:nvSpPr>
          <p:cNvPr id="11" name="TextBox 10">
            <a:extLst>
              <a:ext uri="{FF2B5EF4-FFF2-40B4-BE49-F238E27FC236}">
                <a16:creationId xmlns:a16="http://schemas.microsoft.com/office/drawing/2014/main" id="{DEE88739-8B27-71F9-4EC9-490E0917BFFF}"/>
              </a:ext>
            </a:extLst>
          </p:cNvPr>
          <p:cNvSpPr txBox="1"/>
          <p:nvPr/>
        </p:nvSpPr>
        <p:spPr>
          <a:xfrm>
            <a:off x="983079" y="4929640"/>
            <a:ext cx="11352354"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b="1" dirty="0">
                <a:solidFill>
                  <a:schemeClr val="tx2">
                    <a:lumMod val="75000"/>
                    <a:lumOff val="25000"/>
                  </a:schemeClr>
                </a:solidFill>
                <a:latin typeface="+mj-lt"/>
              </a:rPr>
              <a:t>Phát triển và thử nghiệm:</a:t>
            </a:r>
            <a:endParaRPr lang="vi-VN" dirty="0">
              <a:solidFill>
                <a:schemeClr val="tx2">
                  <a:lumMod val="75000"/>
                  <a:lumOff val="25000"/>
                </a:schemeClr>
              </a:solidFill>
              <a:latin typeface="+mj-lt"/>
            </a:endParaRPr>
          </a:p>
          <a:p>
            <a:pPr lvl="1">
              <a:lnSpc>
                <a:spcPct val="150000"/>
              </a:lnSpc>
              <a:buFont typeface="Arial" panose="020B0604020202020204" pitchFamily="34" charset="0"/>
              <a:buChar char="•"/>
            </a:pPr>
            <a:r>
              <a:rPr lang="vi-VN" b="1" dirty="0">
                <a:solidFill>
                  <a:schemeClr val="tx2">
                    <a:lumMod val="75000"/>
                    <a:lumOff val="25000"/>
                  </a:schemeClr>
                </a:solidFill>
                <a:latin typeface="+mj-lt"/>
              </a:rPr>
              <a:t>Mục đích:</a:t>
            </a:r>
            <a:r>
              <a:rPr lang="vi-VN" dirty="0">
                <a:solidFill>
                  <a:schemeClr val="tx2">
                    <a:lumMod val="75000"/>
                    <a:lumOff val="25000"/>
                  </a:schemeClr>
                </a:solidFill>
                <a:latin typeface="+mj-lt"/>
              </a:rPr>
              <a:t> Xây dựng ứng dụng theo thiết kế đã có và kiểm thử với người dùng thực tế.</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Cách thực hiện:</a:t>
            </a:r>
            <a:r>
              <a:rPr lang="vi-VN" dirty="0">
                <a:solidFill>
                  <a:schemeClr val="tx2">
                    <a:lumMod val="75000"/>
                    <a:lumOff val="25000"/>
                  </a:schemeClr>
                </a:solidFill>
                <a:latin typeface="+mj-lt"/>
              </a:rPr>
              <a:t> Thực hiện thử nghiệm với người dùng mục tiêu.</a:t>
            </a:r>
          </a:p>
        </p:txBody>
      </p:sp>
      <p:pic>
        <p:nvPicPr>
          <p:cNvPr id="6" name="Picture 5" descr="A group of people standing together&#10;&#10;Description automatically generated">
            <a:extLst>
              <a:ext uri="{FF2B5EF4-FFF2-40B4-BE49-F238E27FC236}">
                <a16:creationId xmlns:a16="http://schemas.microsoft.com/office/drawing/2014/main" id="{921003A3-A3FE-C8DB-5B76-FCB802A3F1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92093" y="4459851"/>
            <a:ext cx="3381731" cy="1928764"/>
          </a:xfrm>
          <a:prstGeom prst="rect">
            <a:avLst/>
          </a:prstGeom>
        </p:spPr>
      </p:pic>
    </p:spTree>
    <p:extLst>
      <p:ext uri="{BB962C8B-B14F-4D97-AF65-F5344CB8AC3E}">
        <p14:creationId xmlns:p14="http://schemas.microsoft.com/office/powerpoint/2010/main" val="3461093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8B436-7922-74D4-73AD-FDADCBB7A773}"/>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1B8316BD-7BE2-1DDA-2AA1-37CD27C86AA0}"/>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CA40AA1-9C80-ADFB-DBC0-8ECB500052FA}"/>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DD340D87-440A-F9EC-CEB0-CE10F57B3AA4}"/>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10</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0ABACE57-ABC4-31B8-1B10-BF2BFACF87A8}"/>
              </a:ext>
            </a:extLst>
          </p:cNvPr>
          <p:cNvCxnSpPr/>
          <p:nvPr/>
        </p:nvCxnSpPr>
        <p:spPr>
          <a:xfrm>
            <a:off x="0" y="6264866"/>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C6BC024D-1FFB-5FE0-2F4E-4851CC86BF45}"/>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4533C06-9FA4-5C05-CFF2-8E8CC12D8481}"/>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QUY TRÌNH PHÁT TRIỂN</a:t>
            </a:r>
          </a:p>
        </p:txBody>
      </p:sp>
      <p:sp>
        <p:nvSpPr>
          <p:cNvPr id="3" name="TextBox 2">
            <a:extLst>
              <a:ext uri="{FF2B5EF4-FFF2-40B4-BE49-F238E27FC236}">
                <a16:creationId xmlns:a16="http://schemas.microsoft.com/office/drawing/2014/main" id="{5D96B035-1B3E-B90F-E9B8-AB47FA059CA8}"/>
              </a:ext>
            </a:extLst>
          </p:cNvPr>
          <p:cNvSpPr txBox="1"/>
          <p:nvPr/>
        </p:nvSpPr>
        <p:spPr>
          <a:xfrm>
            <a:off x="597310" y="1682376"/>
            <a:ext cx="6779342" cy="369332"/>
          </a:xfrm>
          <a:prstGeom prst="rect">
            <a:avLst/>
          </a:prstGeom>
          <a:noFill/>
        </p:spPr>
        <p:txBody>
          <a:bodyPr wrap="square">
            <a:spAutoFit/>
          </a:bodyPr>
          <a:lstStyle/>
          <a:p>
            <a:pPr marL="342900" indent="-342900">
              <a:buAutoNum type="arabicPeriod"/>
            </a:pPr>
            <a:r>
              <a:rPr lang="vi-VN" sz="1800" b="1" dirty="0">
                <a:solidFill>
                  <a:schemeClr val="accent2"/>
                </a:solidFill>
                <a:latin typeface="+mj-lt"/>
              </a:rPr>
              <a:t> Công nghệ sử dụng:</a:t>
            </a:r>
          </a:p>
        </p:txBody>
      </p:sp>
      <p:sp>
        <p:nvSpPr>
          <p:cNvPr id="4" name="TextBox 3">
            <a:extLst>
              <a:ext uri="{FF2B5EF4-FFF2-40B4-BE49-F238E27FC236}">
                <a16:creationId xmlns:a16="http://schemas.microsoft.com/office/drawing/2014/main" id="{CC76A3BB-2B9E-BBFB-ED1F-9160AA2EE4D8}"/>
              </a:ext>
            </a:extLst>
          </p:cNvPr>
          <p:cNvSpPr txBox="1"/>
          <p:nvPr/>
        </p:nvSpPr>
        <p:spPr>
          <a:xfrm>
            <a:off x="1005999" y="2244916"/>
            <a:ext cx="8675884" cy="33665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b="1" dirty="0">
                <a:solidFill>
                  <a:schemeClr val="tx2">
                    <a:lumMod val="75000"/>
                    <a:lumOff val="25000"/>
                  </a:schemeClr>
                </a:solidFill>
                <a:latin typeface="+mj-lt"/>
              </a:rPr>
              <a:t>Figma (UI/UX Design):</a:t>
            </a:r>
            <a:endParaRPr lang="vi-VN" dirty="0">
              <a:solidFill>
                <a:schemeClr val="tx2">
                  <a:lumMod val="75000"/>
                  <a:lumOff val="25000"/>
                </a:schemeClr>
              </a:solidFill>
              <a:latin typeface="+mj-lt"/>
            </a:endParaRP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Mục đích:</a:t>
            </a:r>
            <a:r>
              <a:rPr lang="vi-VN" dirty="0">
                <a:solidFill>
                  <a:schemeClr val="tx2">
                    <a:lumMod val="75000"/>
                    <a:lumOff val="25000"/>
                  </a:schemeClr>
                </a:solidFill>
                <a:latin typeface="+mj-lt"/>
              </a:rPr>
              <a:t> Figma được sử dụng để thiết kế giao diện người dùng (UI) và trải nghiệm người dùng (UX). Đây là công cụ thiết kế giao diện mạnh mẽ và dễ dàng chia sẻ với các thành viên trong nhóm hoặc người dùng thử nghiệm.</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Cách thực hiện:</a:t>
            </a:r>
            <a:r>
              <a:rPr lang="vi-VN" dirty="0">
                <a:solidFill>
                  <a:schemeClr val="tx2">
                    <a:lumMod val="75000"/>
                    <a:lumOff val="25000"/>
                  </a:schemeClr>
                </a:solidFill>
                <a:latin typeface="+mj-lt"/>
              </a:rPr>
              <a:t> Tạo các wireframe, mockup và prototype của ứng dụng, giúp mô phỏng các chức năng và giao diện của ứng dụng trước khi phát triển thực tế.</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Kết quả:</a:t>
            </a:r>
            <a:r>
              <a:rPr lang="vi-VN" dirty="0">
                <a:solidFill>
                  <a:schemeClr val="tx2">
                    <a:lumMod val="75000"/>
                    <a:lumOff val="25000"/>
                  </a:schemeClr>
                </a:solidFill>
                <a:latin typeface="+mj-lt"/>
              </a:rPr>
              <a:t> Giao diện được thiết kế đơn giản, dễ sử dụng, và có thể chỉnh sửa, điều chỉnh dễ dàng để phù hợp với phản hồi từ người dùng thử nghiệm.</a:t>
            </a:r>
          </a:p>
        </p:txBody>
      </p:sp>
      <p:pic>
        <p:nvPicPr>
          <p:cNvPr id="5" name="Picture 4" descr="A hand touching a tablet&#10;&#10;Description automatically generated">
            <a:extLst>
              <a:ext uri="{FF2B5EF4-FFF2-40B4-BE49-F238E27FC236}">
                <a16:creationId xmlns:a16="http://schemas.microsoft.com/office/drawing/2014/main" id="{DB11F256-562E-2BC3-61F4-D7E8AD0F9B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88872" y="4089878"/>
            <a:ext cx="3055808" cy="2037205"/>
          </a:xfrm>
          <a:prstGeom prst="rect">
            <a:avLst/>
          </a:prstGeom>
        </p:spPr>
      </p:pic>
    </p:spTree>
    <p:extLst>
      <p:ext uri="{BB962C8B-B14F-4D97-AF65-F5344CB8AC3E}">
        <p14:creationId xmlns:p14="http://schemas.microsoft.com/office/powerpoint/2010/main" val="1124366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11</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00BB5DE8-7634-F27E-6455-BCD105B90B04}"/>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CEBA440-328F-20EC-2478-A400DEAD8C42}"/>
              </a:ext>
            </a:extLst>
          </p:cNvPr>
          <p:cNvSpPr txBox="1"/>
          <p:nvPr/>
        </p:nvSpPr>
        <p:spPr>
          <a:xfrm>
            <a:off x="2854782" y="2551837"/>
            <a:ext cx="6482436" cy="1754326"/>
          </a:xfrm>
          <a:prstGeom prst="rect">
            <a:avLst/>
          </a:prstGeom>
          <a:noFill/>
        </p:spPr>
        <p:txBody>
          <a:bodyPr wrap="square">
            <a:spAutoFit/>
          </a:bodyPr>
          <a:lstStyle/>
          <a:p>
            <a:pPr algn="ctr"/>
            <a:r>
              <a:rPr lang="vi-VN" sz="5400" b="1" dirty="0">
                <a:solidFill>
                  <a:schemeClr val="accent2"/>
                </a:solidFill>
                <a:latin typeface="+mj-lt"/>
              </a:rPr>
              <a:t>4. THIẾT KẾ GIAO DIỆN</a:t>
            </a:r>
            <a:endParaRPr lang="en-US" sz="5400" b="1" dirty="0">
              <a:solidFill>
                <a:schemeClr val="accent2"/>
              </a:solidFill>
              <a:latin typeface="+mj-lt"/>
            </a:endParaRPr>
          </a:p>
        </p:txBody>
      </p:sp>
    </p:spTree>
    <p:extLst>
      <p:ext uri="{BB962C8B-B14F-4D97-AF65-F5344CB8AC3E}">
        <p14:creationId xmlns:p14="http://schemas.microsoft.com/office/powerpoint/2010/main" val="4013108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12</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00BB5DE8-7634-F27E-6455-BCD105B90B04}"/>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279C2ED-036A-7B31-13EC-9FC43D268699}"/>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THIẾT KẾ ỨNG DỤNG</a:t>
            </a:r>
          </a:p>
        </p:txBody>
      </p:sp>
      <p:sp>
        <p:nvSpPr>
          <p:cNvPr id="3" name="TextBox 2">
            <a:extLst>
              <a:ext uri="{FF2B5EF4-FFF2-40B4-BE49-F238E27FC236}">
                <a16:creationId xmlns:a16="http://schemas.microsoft.com/office/drawing/2014/main" id="{2B877FA9-DD54-4395-9E8D-7CCC22732089}"/>
              </a:ext>
            </a:extLst>
          </p:cNvPr>
          <p:cNvSpPr txBox="1"/>
          <p:nvPr/>
        </p:nvSpPr>
        <p:spPr>
          <a:xfrm>
            <a:off x="597310" y="1682376"/>
            <a:ext cx="6779342" cy="369332"/>
          </a:xfrm>
          <a:prstGeom prst="rect">
            <a:avLst/>
          </a:prstGeom>
          <a:noFill/>
        </p:spPr>
        <p:txBody>
          <a:bodyPr wrap="square">
            <a:spAutoFit/>
          </a:bodyPr>
          <a:lstStyle/>
          <a:p>
            <a:pPr marL="342900" indent="-342900">
              <a:buAutoNum type="arabicPeriod"/>
            </a:pPr>
            <a:r>
              <a:rPr lang="vi-VN" sz="1800" b="1" dirty="0">
                <a:solidFill>
                  <a:schemeClr val="accent2"/>
                </a:solidFill>
                <a:latin typeface="+mj-lt"/>
              </a:rPr>
              <a:t>Wireframe của ứng dụng :</a:t>
            </a:r>
          </a:p>
        </p:txBody>
      </p:sp>
      <p:sp>
        <p:nvSpPr>
          <p:cNvPr id="6" name="TextBox 5">
            <a:extLst>
              <a:ext uri="{FF2B5EF4-FFF2-40B4-BE49-F238E27FC236}">
                <a16:creationId xmlns:a16="http://schemas.microsoft.com/office/drawing/2014/main" id="{32ED06B5-DD72-D230-8AA0-2BDFBF3BAF99}"/>
              </a:ext>
            </a:extLst>
          </p:cNvPr>
          <p:cNvSpPr txBox="1"/>
          <p:nvPr/>
        </p:nvSpPr>
        <p:spPr>
          <a:xfrm>
            <a:off x="1017494" y="2133334"/>
            <a:ext cx="6840070" cy="1704569"/>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Màn hình chính:</a:t>
            </a:r>
            <a:r>
              <a:rPr lang="vi-VN" dirty="0">
                <a:solidFill>
                  <a:schemeClr val="tx2">
                    <a:lumMod val="75000"/>
                    <a:lumOff val="25000"/>
                  </a:schemeClr>
                </a:solidFill>
                <a:latin typeface="+mj-lt"/>
              </a:rPr>
              <a:t>Hiển thị các tính năng cơ bản như gọi video, nhắn tin, sự kiện cộng đồng.</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Giao diện đơn giản, các nút bấm lớn, rõ ràng, dễ nhận biết.</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Chữ lớn và dễ đọc, không sử dụng font chữ quá phức tạp.</a:t>
            </a:r>
          </a:p>
        </p:txBody>
      </p:sp>
      <p:sp>
        <p:nvSpPr>
          <p:cNvPr id="11" name="TextBox 10">
            <a:extLst>
              <a:ext uri="{FF2B5EF4-FFF2-40B4-BE49-F238E27FC236}">
                <a16:creationId xmlns:a16="http://schemas.microsoft.com/office/drawing/2014/main" id="{FD0B5CC7-9F6E-51CE-D72A-5E6767BE9768}"/>
              </a:ext>
            </a:extLst>
          </p:cNvPr>
          <p:cNvSpPr txBox="1"/>
          <p:nvPr/>
        </p:nvSpPr>
        <p:spPr>
          <a:xfrm>
            <a:off x="1017494" y="3905079"/>
            <a:ext cx="6840070" cy="2120068"/>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Màn hình kết bạn/nhắn tin:</a:t>
            </a:r>
          </a:p>
          <a:p>
            <a:pPr lvl="1">
              <a:lnSpc>
                <a:spcPct val="150000"/>
              </a:lnSpc>
              <a:buFont typeface="Arial" panose="020B0604020202020204" pitchFamily="34" charset="0"/>
              <a:buChar char="•"/>
            </a:pPr>
            <a:r>
              <a:rPr lang="vi-VN" b="1" dirty="0">
                <a:solidFill>
                  <a:schemeClr val="tx2">
                    <a:lumMod val="75000"/>
                    <a:lumOff val="25000"/>
                  </a:schemeClr>
                </a:solidFill>
                <a:latin typeface="+mj-lt"/>
              </a:rPr>
              <a:t> </a:t>
            </a:r>
            <a:r>
              <a:rPr lang="vi-VN" dirty="0">
                <a:solidFill>
                  <a:schemeClr val="tx2">
                    <a:lumMod val="75000"/>
                    <a:lumOff val="25000"/>
                  </a:schemeClr>
                </a:solidFill>
                <a:latin typeface="+mj-lt"/>
              </a:rPr>
              <a:t>Các nút thao tác lớn, dễ hiểu, chẳng hạn như “Kết bạn", "Nhắn tin", "Chia sẻ".</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Hình ảnh bạn bè, gia đình được hiển thị rõ ràng, giúp người dùng dễ dàng nhận diện và kết nối.</a:t>
            </a:r>
          </a:p>
        </p:txBody>
      </p:sp>
      <p:pic>
        <p:nvPicPr>
          <p:cNvPr id="13" name="Picture 12" descr="A drawing of a diagram&#10;&#10;Description automatically generated">
            <a:extLst>
              <a:ext uri="{FF2B5EF4-FFF2-40B4-BE49-F238E27FC236}">
                <a16:creationId xmlns:a16="http://schemas.microsoft.com/office/drawing/2014/main" id="{5BBD7C3E-B69A-2E6B-B2DA-1581624405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6652" y="2485472"/>
            <a:ext cx="6334125" cy="3571875"/>
          </a:xfrm>
          <a:prstGeom prst="rect">
            <a:avLst/>
          </a:prstGeom>
        </p:spPr>
      </p:pic>
    </p:spTree>
    <p:extLst>
      <p:ext uri="{BB962C8B-B14F-4D97-AF65-F5344CB8AC3E}">
        <p14:creationId xmlns:p14="http://schemas.microsoft.com/office/powerpoint/2010/main" val="1658861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09E3-6FAC-1544-762F-C9CF3ECD2A7A}"/>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2C973244-C9EC-12E1-FCF4-5A6E51F37C71}"/>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D4E939DD-8176-A0EB-4D44-77BC273DB1B1}"/>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B93CABB3-712C-2DAB-510C-6269244EFCCF}"/>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13</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D0D70756-51F9-E3B3-F81C-26939302A5D3}"/>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B9638B6D-5EF5-177D-B80B-3990806D94B8}"/>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background with white spots&#10;&#10;Description automatically generated">
            <a:extLst>
              <a:ext uri="{FF2B5EF4-FFF2-40B4-BE49-F238E27FC236}">
                <a16:creationId xmlns:a16="http://schemas.microsoft.com/office/drawing/2014/main" id="{D4619035-B86F-CF8A-E813-5F9AC8A30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9634" y="2955530"/>
            <a:ext cx="3024957" cy="2851246"/>
          </a:xfrm>
          <a:prstGeom prst="rect">
            <a:avLst/>
          </a:prstGeom>
        </p:spPr>
      </p:pic>
      <p:sp>
        <p:nvSpPr>
          <p:cNvPr id="2" name="TextBox 1">
            <a:extLst>
              <a:ext uri="{FF2B5EF4-FFF2-40B4-BE49-F238E27FC236}">
                <a16:creationId xmlns:a16="http://schemas.microsoft.com/office/drawing/2014/main" id="{33944FA6-B08B-A7D7-2085-FBB7EC6D92B1}"/>
              </a:ext>
            </a:extLst>
          </p:cNvPr>
          <p:cNvSpPr txBox="1"/>
          <p:nvPr/>
        </p:nvSpPr>
        <p:spPr>
          <a:xfrm>
            <a:off x="597310" y="1341033"/>
            <a:ext cx="6779342" cy="369332"/>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THIẾT KẾ ỨNG DỤNG</a:t>
            </a:r>
          </a:p>
        </p:txBody>
      </p:sp>
      <p:sp>
        <p:nvSpPr>
          <p:cNvPr id="3" name="TextBox 2">
            <a:extLst>
              <a:ext uri="{FF2B5EF4-FFF2-40B4-BE49-F238E27FC236}">
                <a16:creationId xmlns:a16="http://schemas.microsoft.com/office/drawing/2014/main" id="{43D2366B-F091-78A0-4080-A998F8B2F497}"/>
              </a:ext>
            </a:extLst>
          </p:cNvPr>
          <p:cNvSpPr txBox="1"/>
          <p:nvPr/>
        </p:nvSpPr>
        <p:spPr>
          <a:xfrm>
            <a:off x="597310" y="1682376"/>
            <a:ext cx="6779342" cy="369332"/>
          </a:xfrm>
          <a:prstGeom prst="rect">
            <a:avLst/>
          </a:prstGeom>
          <a:noFill/>
        </p:spPr>
        <p:txBody>
          <a:bodyPr wrap="square">
            <a:spAutoFit/>
          </a:bodyPr>
          <a:lstStyle/>
          <a:p>
            <a:pPr marL="342900" indent="-342900">
              <a:buAutoNum type="arabicPeriod"/>
            </a:pPr>
            <a:r>
              <a:rPr lang="vi-VN" b="1" dirty="0">
                <a:solidFill>
                  <a:schemeClr val="accent2"/>
                </a:solidFill>
                <a:latin typeface="+mj-lt"/>
              </a:rPr>
              <a:t>Tính năng của giao diện </a:t>
            </a:r>
            <a:r>
              <a:rPr lang="vi-VN" sz="1800" b="1" dirty="0">
                <a:solidFill>
                  <a:schemeClr val="accent2"/>
                </a:solidFill>
                <a:latin typeface="+mj-lt"/>
              </a:rPr>
              <a:t>:</a:t>
            </a:r>
          </a:p>
        </p:txBody>
      </p:sp>
      <p:sp>
        <p:nvSpPr>
          <p:cNvPr id="6" name="TextBox 5">
            <a:extLst>
              <a:ext uri="{FF2B5EF4-FFF2-40B4-BE49-F238E27FC236}">
                <a16:creationId xmlns:a16="http://schemas.microsoft.com/office/drawing/2014/main" id="{E1F78358-B665-E9B8-5FDC-8535D8A82BAC}"/>
              </a:ext>
            </a:extLst>
          </p:cNvPr>
          <p:cNvSpPr txBox="1"/>
          <p:nvPr/>
        </p:nvSpPr>
        <p:spPr>
          <a:xfrm>
            <a:off x="1017494" y="2133334"/>
            <a:ext cx="7212106" cy="128907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Chữ to, rõ ràng</a:t>
            </a:r>
            <a:r>
              <a:rPr lang="vi-VN" dirty="0">
                <a:solidFill>
                  <a:schemeClr val="tx2">
                    <a:lumMod val="75000"/>
                    <a:lumOff val="25000"/>
                  </a:schemeClr>
                </a:solidFill>
                <a:latin typeface="+mj-lt"/>
              </a:rPr>
              <a:t>: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Các văn bản trong ứng dụng sẽ có kích thước lớn và font chữ dễ đọc, tránh dùng font chữ quá nhỏ hoặc quá cách điệu.</a:t>
            </a:r>
          </a:p>
        </p:txBody>
      </p:sp>
      <p:sp>
        <p:nvSpPr>
          <p:cNvPr id="11" name="TextBox 10">
            <a:extLst>
              <a:ext uri="{FF2B5EF4-FFF2-40B4-BE49-F238E27FC236}">
                <a16:creationId xmlns:a16="http://schemas.microsoft.com/office/drawing/2014/main" id="{8C30F2D0-DC13-A8E2-D93C-8B0B0C4CF484}"/>
              </a:ext>
            </a:extLst>
          </p:cNvPr>
          <p:cNvSpPr txBox="1"/>
          <p:nvPr/>
        </p:nvSpPr>
        <p:spPr>
          <a:xfrm>
            <a:off x="1017494" y="3297082"/>
            <a:ext cx="6840070" cy="128875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Icon dễ nhận diện</a:t>
            </a:r>
            <a:r>
              <a:rPr lang="vi-VN" dirty="0">
                <a:solidFill>
                  <a:schemeClr val="tx2">
                    <a:lumMod val="75000"/>
                    <a:lumOff val="25000"/>
                  </a:schemeClr>
                </a:solidFill>
                <a:latin typeface="+mj-lt"/>
              </a:rPr>
              <a:t>: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Sử dụng các biểu tượng (icon) đơn giản, dễ hiểu thay vì các từ ngữ phức tạp.</a:t>
            </a:r>
          </a:p>
        </p:txBody>
      </p:sp>
      <p:sp>
        <p:nvSpPr>
          <p:cNvPr id="4" name="TextBox 3">
            <a:extLst>
              <a:ext uri="{FF2B5EF4-FFF2-40B4-BE49-F238E27FC236}">
                <a16:creationId xmlns:a16="http://schemas.microsoft.com/office/drawing/2014/main" id="{9EFB6F91-F3B9-D913-257D-CA80A1E274BF}"/>
              </a:ext>
            </a:extLst>
          </p:cNvPr>
          <p:cNvSpPr txBox="1"/>
          <p:nvPr/>
        </p:nvSpPr>
        <p:spPr>
          <a:xfrm>
            <a:off x="1017494" y="4515912"/>
            <a:ext cx="6840070" cy="128907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Đặc biệt có vài tính năng có song ngữ</a:t>
            </a:r>
            <a:r>
              <a:rPr lang="vi-VN" dirty="0">
                <a:solidFill>
                  <a:schemeClr val="tx2">
                    <a:lumMod val="75000"/>
                    <a:lumOff val="25000"/>
                  </a:schemeClr>
                </a:solidFill>
                <a:latin typeface="+mj-lt"/>
              </a:rPr>
              <a:t>: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Sử dụng song ngữ Khmer – Việt cho vài tính năng hỗ trợ người dùng chỉ biết tiếng Khmer.</a:t>
            </a:r>
          </a:p>
        </p:txBody>
      </p:sp>
    </p:spTree>
    <p:extLst>
      <p:ext uri="{BB962C8B-B14F-4D97-AF65-F5344CB8AC3E}">
        <p14:creationId xmlns:p14="http://schemas.microsoft.com/office/powerpoint/2010/main" val="2492169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71B68-E9C3-1626-4408-CA7469506D0A}"/>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3644E8E3-5CEB-55F0-2AA7-B89094BBC249}"/>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F13EF28A-39C0-472B-03CC-C6625093B241}"/>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561BA3AD-A35F-B810-4720-ED3EAF959A0B}"/>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14</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ABC083BC-1219-59DA-7FED-8E578255625D}"/>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390194B5-FFDF-B1AF-218F-DF15D0D65557}"/>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C687A9D-793E-2A31-9A42-799533658624}"/>
              </a:ext>
            </a:extLst>
          </p:cNvPr>
          <p:cNvSpPr txBox="1"/>
          <p:nvPr/>
        </p:nvSpPr>
        <p:spPr>
          <a:xfrm>
            <a:off x="2854782" y="2551837"/>
            <a:ext cx="6482436" cy="1754326"/>
          </a:xfrm>
          <a:prstGeom prst="rect">
            <a:avLst/>
          </a:prstGeom>
          <a:noFill/>
        </p:spPr>
        <p:txBody>
          <a:bodyPr wrap="square">
            <a:spAutoFit/>
          </a:bodyPr>
          <a:lstStyle/>
          <a:p>
            <a:pPr algn="ctr"/>
            <a:r>
              <a:rPr lang="vi-VN" sz="5400" b="1" dirty="0">
                <a:solidFill>
                  <a:schemeClr val="accent2"/>
                </a:solidFill>
                <a:latin typeface="+mj-lt"/>
              </a:rPr>
              <a:t>5. KẾT QUẢ ĐẠT ĐƯỢC</a:t>
            </a:r>
            <a:endParaRPr lang="en-US" sz="5400" b="1" dirty="0">
              <a:solidFill>
                <a:schemeClr val="accent2"/>
              </a:solidFill>
              <a:latin typeface="+mj-lt"/>
            </a:endParaRPr>
          </a:p>
        </p:txBody>
      </p:sp>
    </p:spTree>
    <p:extLst>
      <p:ext uri="{BB962C8B-B14F-4D97-AF65-F5344CB8AC3E}">
        <p14:creationId xmlns:p14="http://schemas.microsoft.com/office/powerpoint/2010/main" val="1272864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B0A56-0D8B-7714-BCE0-CFC88EC19175}"/>
            </a:ext>
          </a:extLst>
        </p:cNvPr>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379CA5DA-9118-BFFD-CE33-FD18F670637E}"/>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E74D6334-F3C4-C463-5D58-A6D6619E6263}"/>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3D6D9A01-8A08-EA63-3EF4-0593F2C8D2B4}"/>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15</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BD78445A-EA0F-995B-D97D-BCA9E35150FE}"/>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79CBB773-94A1-1225-A215-301072BBABD8}"/>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7515A27-5464-02C1-D935-04F0E929515F}"/>
              </a:ext>
            </a:extLst>
          </p:cNvPr>
          <p:cNvSpPr txBox="1"/>
          <p:nvPr/>
        </p:nvSpPr>
        <p:spPr>
          <a:xfrm>
            <a:off x="2854782" y="2551837"/>
            <a:ext cx="6482436" cy="1754326"/>
          </a:xfrm>
          <a:prstGeom prst="rect">
            <a:avLst/>
          </a:prstGeom>
          <a:noFill/>
        </p:spPr>
        <p:txBody>
          <a:bodyPr wrap="square">
            <a:spAutoFit/>
          </a:bodyPr>
          <a:lstStyle/>
          <a:p>
            <a:pPr algn="ctr"/>
            <a:r>
              <a:rPr lang="vi-VN" sz="5400" b="1" dirty="0">
                <a:solidFill>
                  <a:schemeClr val="accent2"/>
                </a:solidFill>
                <a:latin typeface="+mj-lt"/>
              </a:rPr>
              <a:t>6. HƯỚNG PHÁT TRIỂN</a:t>
            </a:r>
            <a:endParaRPr lang="en-US" sz="5400" b="1" dirty="0">
              <a:solidFill>
                <a:schemeClr val="accent2"/>
              </a:solidFill>
              <a:latin typeface="+mj-lt"/>
            </a:endParaRPr>
          </a:p>
        </p:txBody>
      </p:sp>
    </p:spTree>
    <p:extLst>
      <p:ext uri="{BB962C8B-B14F-4D97-AF65-F5344CB8AC3E}">
        <p14:creationId xmlns:p14="http://schemas.microsoft.com/office/powerpoint/2010/main" val="1731445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4039098" y="1804683"/>
            <a:ext cx="3944579" cy="3944579"/>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98847" y="-125329"/>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16</a:t>
            </a:r>
            <a:endParaRPr lang="en-US" b="1" dirty="0">
              <a:solidFill>
                <a:schemeClr val="accent2"/>
              </a:solidFill>
              <a:latin typeface="+mj-lt"/>
            </a:endParaRPr>
          </a:p>
        </p:txBody>
      </p:sp>
      <p:cxnSp>
        <p:nvCxnSpPr>
          <p:cNvPr id="19" name="Straight Connector 18">
            <a:extLst>
              <a:ext uri="{FF2B5EF4-FFF2-40B4-BE49-F238E27FC236}">
                <a16:creationId xmlns:a16="http://schemas.microsoft.com/office/drawing/2014/main" id="{72EE5280-3747-55D4-AC6C-581168539677}"/>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Freeform: Shape 17">
            <a:extLst>
              <a:ext uri="{FF2B5EF4-FFF2-40B4-BE49-F238E27FC236}">
                <a16:creationId xmlns:a16="http://schemas.microsoft.com/office/drawing/2014/main" id="{00BB5DE8-7634-F27E-6455-BCD105B90B04}"/>
              </a:ext>
            </a:extLst>
          </p:cNvPr>
          <p:cNvSpPr/>
          <p:nvPr/>
        </p:nvSpPr>
        <p:spPr>
          <a:xfrm>
            <a:off x="1268106" y="1150374"/>
            <a:ext cx="875326" cy="471949"/>
          </a:xfrm>
          <a:custGeom>
            <a:avLst/>
            <a:gdLst>
              <a:gd name="connsiteX0" fmla="*/ 19920 w 875326"/>
              <a:gd name="connsiteY0" fmla="*/ 471949 h 471949"/>
              <a:gd name="connsiteX1" fmla="*/ 19920 w 875326"/>
              <a:gd name="connsiteY1" fmla="*/ 157316 h 471949"/>
              <a:gd name="connsiteX2" fmla="*/ 59249 w 875326"/>
              <a:gd name="connsiteY2" fmla="*/ 108155 h 471949"/>
              <a:gd name="connsiteX3" fmla="*/ 128075 w 875326"/>
              <a:gd name="connsiteY3" fmla="*/ 19665 h 471949"/>
              <a:gd name="connsiteX4" fmla="*/ 187068 w 875326"/>
              <a:gd name="connsiteY4" fmla="*/ 0 h 471949"/>
              <a:gd name="connsiteX5" fmla="*/ 609855 w 875326"/>
              <a:gd name="connsiteY5" fmla="*/ 9832 h 471949"/>
              <a:gd name="connsiteX6" fmla="*/ 678681 w 875326"/>
              <a:gd name="connsiteY6" fmla="*/ 49161 h 471949"/>
              <a:gd name="connsiteX7" fmla="*/ 796668 w 875326"/>
              <a:gd name="connsiteY7" fmla="*/ 127820 h 471949"/>
              <a:gd name="connsiteX8" fmla="*/ 835997 w 875326"/>
              <a:gd name="connsiteY8" fmla="*/ 235974 h 471949"/>
              <a:gd name="connsiteX9" fmla="*/ 845829 w 875326"/>
              <a:gd name="connsiteY9" fmla="*/ 285136 h 471949"/>
              <a:gd name="connsiteX10" fmla="*/ 875326 w 875326"/>
              <a:gd name="connsiteY10" fmla="*/ 412955 h 47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26" h="471949">
                <a:moveTo>
                  <a:pt x="19920" y="471949"/>
                </a:moveTo>
                <a:cubicBezTo>
                  <a:pt x="-3714" y="353776"/>
                  <a:pt x="-9415" y="345061"/>
                  <a:pt x="19920" y="157316"/>
                </a:cubicBezTo>
                <a:cubicBezTo>
                  <a:pt x="23160" y="136582"/>
                  <a:pt x="47608" y="125616"/>
                  <a:pt x="59249" y="108155"/>
                </a:cubicBezTo>
                <a:cubicBezTo>
                  <a:pt x="90812" y="60810"/>
                  <a:pt x="66121" y="59090"/>
                  <a:pt x="128075" y="19665"/>
                </a:cubicBezTo>
                <a:cubicBezTo>
                  <a:pt x="145562" y="8537"/>
                  <a:pt x="187068" y="0"/>
                  <a:pt x="187068" y="0"/>
                </a:cubicBezTo>
                <a:cubicBezTo>
                  <a:pt x="327997" y="3277"/>
                  <a:pt x="469174" y="852"/>
                  <a:pt x="609855" y="9832"/>
                </a:cubicBezTo>
                <a:cubicBezTo>
                  <a:pt x="627575" y="10963"/>
                  <a:pt x="662931" y="40570"/>
                  <a:pt x="678681" y="49161"/>
                </a:cubicBezTo>
                <a:cubicBezTo>
                  <a:pt x="783444" y="106305"/>
                  <a:pt x="730588" y="61740"/>
                  <a:pt x="796668" y="127820"/>
                </a:cubicBezTo>
                <a:cubicBezTo>
                  <a:pt x="811749" y="165522"/>
                  <a:pt x="825177" y="196298"/>
                  <a:pt x="835997" y="235974"/>
                </a:cubicBezTo>
                <a:cubicBezTo>
                  <a:pt x="840394" y="252097"/>
                  <a:pt x="841432" y="269013"/>
                  <a:pt x="845829" y="285136"/>
                </a:cubicBezTo>
                <a:cubicBezTo>
                  <a:pt x="878222" y="403909"/>
                  <a:pt x="856526" y="281354"/>
                  <a:pt x="875326" y="412955"/>
                </a:cubicBezTo>
              </a:path>
            </a:pathLst>
          </a:cu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917273F-ACE7-2BA4-FD3F-14FF7D59B807}"/>
              </a:ext>
            </a:extLst>
          </p:cNvPr>
          <p:cNvSpPr txBox="1"/>
          <p:nvPr/>
        </p:nvSpPr>
        <p:spPr>
          <a:xfrm>
            <a:off x="1043628" y="1319805"/>
            <a:ext cx="6779342" cy="646331"/>
          </a:xfrm>
          <a:prstGeom prst="rect">
            <a:avLst/>
          </a:prstGeom>
          <a:noFill/>
        </p:spPr>
        <p:txBody>
          <a:bodyPr wrap="square">
            <a:spAutoFit/>
          </a:bodyPr>
          <a:lstStyle/>
          <a:p>
            <a:pPr marL="400050" indent="-400050">
              <a:buAutoNum type="romanUcPeriod"/>
            </a:pPr>
            <a:r>
              <a:rPr lang="vi-VN" sz="1800" b="1" dirty="0">
                <a:solidFill>
                  <a:schemeClr val="accent2"/>
                </a:solidFill>
                <a:latin typeface="+mj-lt"/>
              </a:rPr>
              <a:t>HƯỚNG PHÁT TRIỂN</a:t>
            </a:r>
          </a:p>
          <a:p>
            <a:pPr marL="400050" indent="-400050">
              <a:buAutoNum type="romanUcPeriod"/>
            </a:pPr>
            <a:endParaRPr lang="vi-VN" sz="1800" b="1" dirty="0">
              <a:solidFill>
                <a:schemeClr val="accent2"/>
              </a:solidFill>
              <a:latin typeface="+mj-lt"/>
            </a:endParaRPr>
          </a:p>
        </p:txBody>
      </p:sp>
      <p:sp>
        <p:nvSpPr>
          <p:cNvPr id="5" name="TextBox 4">
            <a:extLst>
              <a:ext uri="{FF2B5EF4-FFF2-40B4-BE49-F238E27FC236}">
                <a16:creationId xmlns:a16="http://schemas.microsoft.com/office/drawing/2014/main" id="{E1ACD363-3355-BE52-8958-D826E6180488}"/>
              </a:ext>
            </a:extLst>
          </p:cNvPr>
          <p:cNvSpPr txBox="1"/>
          <p:nvPr/>
        </p:nvSpPr>
        <p:spPr>
          <a:xfrm>
            <a:off x="1043628" y="1710365"/>
            <a:ext cx="6840070" cy="1288751"/>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Mở rộng tính năng: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Trong tương lai, có thể thêm các tính năng hỗ trợ tìm bạn xung quanh thông qua bật vị trí.</a:t>
            </a:r>
          </a:p>
        </p:txBody>
      </p:sp>
      <p:sp>
        <p:nvSpPr>
          <p:cNvPr id="6" name="TextBox 5">
            <a:extLst>
              <a:ext uri="{FF2B5EF4-FFF2-40B4-BE49-F238E27FC236}">
                <a16:creationId xmlns:a16="http://schemas.microsoft.com/office/drawing/2014/main" id="{BAF56352-7BD9-E38D-EE22-2E47227D2B80}"/>
              </a:ext>
            </a:extLst>
          </p:cNvPr>
          <p:cNvSpPr txBox="1"/>
          <p:nvPr/>
        </p:nvSpPr>
        <p:spPr>
          <a:xfrm>
            <a:off x="1043628" y="2933677"/>
            <a:ext cx="6840070" cy="1288751"/>
          </a:xfrm>
          <a:prstGeom prst="rect">
            <a:avLst/>
          </a:prstGeom>
          <a:noFill/>
        </p:spPr>
        <p:txBody>
          <a:bodyPr wrap="square">
            <a:spAutoFit/>
          </a:bodyPr>
          <a:lstStyle/>
          <a:p>
            <a:pPr>
              <a:lnSpc>
                <a:spcPct val="150000"/>
              </a:lnSpc>
              <a:buFont typeface="Arial" panose="020B0604020202020204" pitchFamily="34" charset="0"/>
              <a:buChar char="•"/>
            </a:pPr>
            <a:r>
              <a:rPr lang="vi-VN" dirty="0">
                <a:solidFill>
                  <a:schemeClr val="tx2">
                    <a:lumMod val="75000"/>
                    <a:lumOff val="25000"/>
                  </a:schemeClr>
                </a:solidFill>
                <a:latin typeface="+mj-lt"/>
              </a:rPr>
              <a:t> </a:t>
            </a:r>
            <a:r>
              <a:rPr lang="vi-VN" b="1" dirty="0">
                <a:solidFill>
                  <a:schemeClr val="tx2">
                    <a:lumMod val="75000"/>
                    <a:lumOff val="25000"/>
                  </a:schemeClr>
                </a:solidFill>
                <a:latin typeface="+mj-lt"/>
              </a:rPr>
              <a:t>Tích hợp công nghệ mới: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Việc tích hợp công nghệ nhận diện giọng nói để dễ dàng tìm kiếm khi người dùng không biết chữ. </a:t>
            </a:r>
          </a:p>
        </p:txBody>
      </p:sp>
      <p:sp>
        <p:nvSpPr>
          <p:cNvPr id="7" name="TextBox 6">
            <a:extLst>
              <a:ext uri="{FF2B5EF4-FFF2-40B4-BE49-F238E27FC236}">
                <a16:creationId xmlns:a16="http://schemas.microsoft.com/office/drawing/2014/main" id="{4041BA25-BD53-476D-A790-290635D59CCD}"/>
              </a:ext>
            </a:extLst>
          </p:cNvPr>
          <p:cNvSpPr txBox="1"/>
          <p:nvPr/>
        </p:nvSpPr>
        <p:spPr>
          <a:xfrm>
            <a:off x="1081012" y="4222428"/>
            <a:ext cx="6840070" cy="1704249"/>
          </a:xfrm>
          <a:prstGeom prst="rect">
            <a:avLst/>
          </a:prstGeom>
          <a:noFill/>
        </p:spPr>
        <p:txBody>
          <a:bodyPr wrap="square">
            <a:spAutoFit/>
          </a:bodyPr>
          <a:lstStyle/>
          <a:p>
            <a:pPr>
              <a:lnSpc>
                <a:spcPct val="150000"/>
              </a:lnSpc>
              <a:buFont typeface="Arial" panose="020B0604020202020204" pitchFamily="34" charset="0"/>
              <a:buChar char="•"/>
            </a:pPr>
            <a:r>
              <a:rPr lang="vi-VN" b="1" dirty="0">
                <a:solidFill>
                  <a:schemeClr val="tx2">
                    <a:lumMod val="75000"/>
                    <a:lumOff val="25000"/>
                  </a:schemeClr>
                </a:solidFill>
                <a:latin typeface="+mj-lt"/>
              </a:rPr>
              <a:t> Cải tiến giao diện người dùng: </a:t>
            </a:r>
          </a:p>
          <a:p>
            <a:pPr lvl="1">
              <a:lnSpc>
                <a:spcPct val="150000"/>
              </a:lnSpc>
              <a:buFont typeface="Arial" panose="020B0604020202020204" pitchFamily="34" charset="0"/>
              <a:buChar char="•"/>
            </a:pPr>
            <a:r>
              <a:rPr lang="vi-VN" dirty="0">
                <a:solidFill>
                  <a:schemeClr val="tx2">
                    <a:lumMod val="75000"/>
                    <a:lumOff val="25000"/>
                  </a:schemeClr>
                </a:solidFill>
                <a:latin typeface="+mj-lt"/>
              </a:rPr>
              <a:t> Các tính năng như tối ưu hóa cho các thiết bị với kích thước màn hình khác nhau hoặc cải thiện tính năng tìm kiếm trong ứng dụng có thể được triển khai. </a:t>
            </a:r>
          </a:p>
        </p:txBody>
      </p:sp>
      <p:pic>
        <p:nvPicPr>
          <p:cNvPr id="10" name="Picture 9" descr="A green pencil with a red x mark on a checklist&#10;&#10;Description automatically generated">
            <a:extLst>
              <a:ext uri="{FF2B5EF4-FFF2-40B4-BE49-F238E27FC236}">
                <a16:creationId xmlns:a16="http://schemas.microsoft.com/office/drawing/2014/main" id="{558254AC-2788-0BBA-BFA9-D6B8B70268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1126" y="1752909"/>
            <a:ext cx="4781550" cy="4048125"/>
          </a:xfrm>
          <a:prstGeom prst="rect">
            <a:avLst/>
          </a:prstGeom>
        </p:spPr>
      </p:pic>
    </p:spTree>
    <p:extLst>
      <p:ext uri="{BB962C8B-B14F-4D97-AF65-F5344CB8AC3E}">
        <p14:creationId xmlns:p14="http://schemas.microsoft.com/office/powerpoint/2010/main" val="3260803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circle with black text&#10;&#10;Description automatically generated">
            <a:extLst>
              <a:ext uri="{FF2B5EF4-FFF2-40B4-BE49-F238E27FC236}">
                <a16:creationId xmlns:a16="http://schemas.microsoft.com/office/drawing/2014/main" id="{E13814F6-3A55-4CB3-7FCE-CC411F925A96}"/>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3714750" y="1865670"/>
            <a:ext cx="3944579" cy="3944579"/>
          </a:xfrm>
          <a:prstGeom prst="rect">
            <a:avLst/>
          </a:prstGeom>
        </p:spPr>
      </p:pic>
      <p:sp>
        <p:nvSpPr>
          <p:cNvPr id="3" name="TextBox 2">
            <a:extLst>
              <a:ext uri="{FF2B5EF4-FFF2-40B4-BE49-F238E27FC236}">
                <a16:creationId xmlns:a16="http://schemas.microsoft.com/office/drawing/2014/main" id="{C8CBAD7C-5B65-A778-5D3F-1B83EBA11269}"/>
              </a:ext>
            </a:extLst>
          </p:cNvPr>
          <p:cNvSpPr txBox="1"/>
          <p:nvPr/>
        </p:nvSpPr>
        <p:spPr>
          <a:xfrm>
            <a:off x="1782096" y="2416276"/>
            <a:ext cx="8627807" cy="1754326"/>
          </a:xfrm>
          <a:prstGeom prst="rect">
            <a:avLst/>
          </a:prstGeom>
          <a:noFill/>
        </p:spPr>
        <p:txBody>
          <a:bodyPr wrap="square" rtlCol="0">
            <a:spAutoFit/>
          </a:bodyPr>
          <a:lstStyle/>
          <a:p>
            <a:pPr algn="ctr"/>
            <a:r>
              <a:rPr lang="vi-VN" sz="5400" b="1" dirty="0">
                <a:solidFill>
                  <a:schemeClr val="accent2"/>
                </a:solidFill>
                <a:latin typeface="+mj-lt"/>
              </a:rPr>
              <a:t>CẢM ƠN THẦY, CÁC BẠN ĐÃ LẮNG NGHE</a:t>
            </a:r>
            <a:endParaRPr lang="en-US" sz="5400" b="1" dirty="0">
              <a:solidFill>
                <a:schemeClr val="accent2"/>
              </a:solidFill>
              <a:latin typeface="+mj-lt"/>
            </a:endParaRPr>
          </a:p>
        </p:txBody>
      </p:sp>
      <p:pic>
        <p:nvPicPr>
          <p:cNvPr id="9" name="Picture 8" descr="A black background with white text&#10;&#10;Description automatically generated">
            <a:extLst>
              <a:ext uri="{FF2B5EF4-FFF2-40B4-BE49-F238E27FC236}">
                <a16:creationId xmlns:a16="http://schemas.microsoft.com/office/drawing/2014/main" id="{3E66FE4E-6447-FE39-46C2-1562059A2B06}"/>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275834" y="0"/>
            <a:ext cx="6067034" cy="1614497"/>
          </a:xfrm>
          <a:prstGeom prst="rect">
            <a:avLst/>
          </a:prstGeom>
        </p:spPr>
      </p:pic>
      <p:sp>
        <p:nvSpPr>
          <p:cNvPr id="15" name="TextBox 14">
            <a:extLst>
              <a:ext uri="{FF2B5EF4-FFF2-40B4-BE49-F238E27FC236}">
                <a16:creationId xmlns:a16="http://schemas.microsoft.com/office/drawing/2014/main" id="{AC323BC4-4FE8-85F6-A883-CABDE0E63FD0}"/>
              </a:ext>
            </a:extLst>
          </p:cNvPr>
          <p:cNvSpPr txBox="1"/>
          <p:nvPr/>
        </p:nvSpPr>
        <p:spPr>
          <a:xfrm>
            <a:off x="11661058" y="6357177"/>
            <a:ext cx="1622323" cy="369332"/>
          </a:xfrm>
          <a:prstGeom prst="rect">
            <a:avLst/>
          </a:prstGeom>
          <a:noFill/>
        </p:spPr>
        <p:txBody>
          <a:bodyPr wrap="square" rtlCol="0">
            <a:spAutoFit/>
          </a:bodyPr>
          <a:lstStyle/>
          <a:p>
            <a:r>
              <a:rPr lang="vi-VN" b="1" dirty="0">
                <a:solidFill>
                  <a:schemeClr val="accent2"/>
                </a:solidFill>
                <a:latin typeface="+mj-lt"/>
              </a:rPr>
              <a:t>17</a:t>
            </a:r>
            <a:endParaRPr lang="en-US" b="1" dirty="0">
              <a:solidFill>
                <a:schemeClr val="accent2"/>
              </a:solidFill>
              <a:latin typeface="+mj-lt"/>
            </a:endParaRPr>
          </a:p>
        </p:txBody>
      </p:sp>
      <p:cxnSp>
        <p:nvCxnSpPr>
          <p:cNvPr id="2" name="Straight Connector 1">
            <a:extLst>
              <a:ext uri="{FF2B5EF4-FFF2-40B4-BE49-F238E27FC236}">
                <a16:creationId xmlns:a16="http://schemas.microsoft.com/office/drawing/2014/main" id="{AA2D4D8C-D0AA-7A3E-7BBA-F2EA9A0A054B}"/>
              </a:ext>
            </a:extLst>
          </p:cNvPr>
          <p:cNvCxnSpPr/>
          <p:nvPr/>
        </p:nvCxnSpPr>
        <p:spPr>
          <a:xfrm>
            <a:off x="0" y="6157290"/>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10">
            <a:extLst>
              <a:ext uri="{FF2B5EF4-FFF2-40B4-BE49-F238E27FC236}">
                <a16:creationId xmlns:a16="http://schemas.microsoft.com/office/drawing/2014/main" id="{35E456E3-6A5F-C511-0867-F3507009EF14}"/>
              </a:ext>
            </a:extLst>
          </p:cNvPr>
          <p:cNvPicPr>
            <a:picLocks noChangeAspect="1"/>
          </p:cNvPicPr>
          <p:nvPr/>
        </p:nvPicPr>
        <p:blipFill>
          <a:blip r:embed="rId5"/>
          <a:srcRect/>
          <a:stretch>
            <a:fillRect/>
          </a:stretch>
        </p:blipFill>
        <p:spPr>
          <a:xfrm>
            <a:off x="9834015" y="4550734"/>
            <a:ext cx="2269495" cy="1506613"/>
          </a:xfrm>
          <a:prstGeom prst="rect">
            <a:avLst/>
          </a:prstGeom>
        </p:spPr>
      </p:pic>
    </p:spTree>
    <p:extLst>
      <p:ext uri="{BB962C8B-B14F-4D97-AF65-F5344CB8AC3E}">
        <p14:creationId xmlns:p14="http://schemas.microsoft.com/office/powerpoint/2010/main" val="1129779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TotalTime>
  <Words>1625</Words>
  <Application>Microsoft Office PowerPoint</Application>
  <PresentationFormat>Widescreen</PresentationFormat>
  <Paragraphs>139</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Của Phia Dell</dc:creator>
  <cp:lastModifiedBy>Của Phia Dell</cp:lastModifiedBy>
  <cp:revision>3</cp:revision>
  <dcterms:created xsi:type="dcterms:W3CDTF">2024-10-05T07:16:14Z</dcterms:created>
  <dcterms:modified xsi:type="dcterms:W3CDTF">2025-01-15T11:21:11Z</dcterms:modified>
</cp:coreProperties>
</file>